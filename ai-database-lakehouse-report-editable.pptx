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racle.com/database/ai-native-database-26ai/" TargetMode="External"/><Relationship Id="rId3" Type="http://schemas.openxmlformats.org/officeDocument/2006/relationships/hyperlink" Target="https://docs.oracle.com/en/database/oracle/oracle-database/26/dbiad/all_diagrams.html" TargetMode="External"/><Relationship Id="rId4" Type="http://schemas.openxmlformats.org/officeDocument/2006/relationships/hyperlink" Target="https://docs.oracle.com/en/database/oracle/oracle-database/26/dbiad/db_inmemoryarea.html" TargetMode="External"/><Relationship Id="rId5" Type="http://schemas.openxmlformats.org/officeDocument/2006/relationships/hyperlink" Target="https://docs.oracle.com/en/engineered-systems/exadata-database-machine/dbmso/ai-vector-search.html" TargetMode="External"/><Relationship Id="rId6" Type="http://schemas.openxmlformats.org/officeDocument/2006/relationships/hyperlink" Target="https://docs.oracle.com/en/database/oracle/oracle-database/26/selai/select-ai-agent2.html" TargetMode="External"/><Relationship Id="rId7" Type="http://schemas.openxmlformats.org/officeDocument/2006/relationships/hyperlink" Target="https://docs.oracle.com/en/cloud/paas/autonomous-database/serverless/adbsb/mcp-server.html" TargetMode="External"/><Relationship Id="rId8" Type="http://schemas.openxmlformats.org/officeDocument/2006/relationships/hyperlink" Target="https://blogs.oracle.com/database/building-an-autonomous-fraud-detection-pipeline-with-autonomous-ai-database" TargetMode="External"/><Relationship Id="rId9" Type="http://schemas.openxmlformats.org/officeDocument/2006/relationships/hyperlink" Target="https://www.oracle.com/autonomous-database/autonomous-ai-lakehouse/" TargetMode="External"/><Relationship Id="rId10" Type="http://schemas.openxmlformats.org/officeDocument/2006/relationships/hyperlink" Target="https://www.oracle.com/customers/retraced/" TargetMode="External"/><Relationship Id="rId11" Type="http://schemas.openxmlformats.org/officeDocument/2006/relationships/hyperlink" Target="https://www.oracle.com/customers/rappi/" TargetMode="Externa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help.aliyun.com/en/polardb/polardb-for-mysql/user-guide/technical-background-and-architecture-of-column-store-index" TargetMode="External"/><Relationship Id="rId3" Type="http://schemas.openxmlformats.org/officeDocument/2006/relationships/hyperlink" Target="https://help.aliyun.com/en/polardb/polardb-for-mysql/htap-based-real-time-data-analysis-in-polardb" TargetMode="External"/><Relationship Id="rId4" Type="http://schemas.openxmlformats.org/officeDocument/2006/relationships/hyperlink" Target="https://help.aliyun.com/en/polardb/polardb-for-mysql/user-guide/automatic-non-sense-speed-autoindex" TargetMode="External"/><Relationship Id="rId5" Type="http://schemas.openxmlformats.org/officeDocument/2006/relationships/hyperlink" Target="https://help.aliyun.com/en/polardb/polardb-for-mysql/polardb-for-ai-nl2sql-commercialized" TargetMode="External"/><Relationship Id="rId6" Type="http://schemas.openxmlformats.org/officeDocument/2006/relationships/hyperlink" Target="https://help.aliyun.com/en/polardb/polardb-for-mysql/enable-the-polardb-for-ai-feature" TargetMode="External"/><Relationship Id="rId7" Type="http://schemas.openxmlformats.org/officeDocument/2006/relationships/hyperlink" Target="https://help.aliyun.com/en/polardb/polardb-for-mysql/db-agent/" TargetMode="External"/><Relationship Id="rId8" Type="http://schemas.openxmlformats.org/officeDocument/2006/relationships/hyperlink" Target="https://help.aliyun.com/zh/polardb/polardb-for-mysql/building-a-retrieval-enhancement-rag-system-based-on-polardb-imci" TargetMode="External"/><Relationship Id="rId9" Type="http://schemas.openxmlformats.org/officeDocument/2006/relationships/hyperlink" Target="https://help.aliyun.com/en/polardb/polardb-for-mysql/electric-vehicle-manufacturing-yadi-technology-group-co-ltd" TargetMode="Externa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www.oceanbase.com/solution/ai" TargetMode="External"/><Relationship Id="rId3" Type="http://schemas.openxmlformats.org/officeDocument/2006/relationships/hyperlink" Target="https://www.oceanbase.com/docs/common-oceanbase-database-cn-1000000005682097" TargetMode="External"/><Relationship Id="rId4" Type="http://schemas.openxmlformats.org/officeDocument/2006/relationships/hyperlink" Target="https://www.oceanbase.com/docs/common-oceanbase-database-cn-1000000005682098" TargetMode="External"/><Relationship Id="rId5" Type="http://schemas.openxmlformats.org/officeDocument/2006/relationships/hyperlink" Target="https://www.oceanbase.com/docs/common-oceanbase-database-cn-1000000006326202" TargetMode="External"/><Relationship Id="rId6" Type="http://schemas.openxmlformats.org/officeDocument/2006/relationships/hyperlink" Target="https://www.oceanbase.com/docs/common-oceanbase-database-cn-1000000006326199" TargetMode="External"/><Relationship Id="rId7" Type="http://schemas.openxmlformats.org/officeDocument/2006/relationships/hyperlink" Target="https://www.oceanbase.com/docs/common-best-practices-1000000002808478" TargetMode="External"/><Relationship Id="rId8" Type="http://schemas.openxmlformats.org/officeDocument/2006/relationships/hyperlink" Target="https://www.oceanbase.com/docs/common-oceanbase-database-cn-1000000005682088" TargetMode="Externa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docs.databricks.com/aws/en/oltp/projects/architecture" TargetMode="External"/><Relationship Id="rId3" Type="http://schemas.openxmlformats.org/officeDocument/2006/relationships/hyperlink" Target="https://docs.databricks.com/aws/en/oltp/projects/storage-architecture" TargetMode="External"/><Relationship Id="rId4" Type="http://schemas.openxmlformats.org/officeDocument/2006/relationships/hyperlink" Target="https://docs.databricks.com/aws/en/oltp/projects/ltap-overview" TargetMode="External"/><Relationship Id="rId5" Type="http://schemas.openxmlformats.org/officeDocument/2006/relationships/hyperlink" Target="https://docs.databricks.com/aws/en/ai-gateway/" TargetMode="External"/><Relationship Id="rId6" Type="http://schemas.openxmlformats.org/officeDocument/2006/relationships/hyperlink" Target="https://docs.databricks.com/aws/en/agents/custom-agents/build-agents" TargetMode="External"/><Relationship Id="rId7" Type="http://schemas.openxmlformats.org/officeDocument/2006/relationships/hyperlink" Target="https://docs.databricks.com/aws/en/ai-search/ai-search" TargetMode="External"/><Relationship Id="rId8" Type="http://schemas.openxmlformats.org/officeDocument/2006/relationships/hyperlink" Target="https://docs.databricks.com/aws/en/agents/agent-bricks/multi-agent-supervisor" TargetMode="External"/><Relationship Id="rId9" Type="http://schemas.openxmlformats.org/officeDocument/2006/relationships/hyperlink" Target="https://www.databricks.com/customers/finthrive/agent-bricks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051560"/>
            <a:ext cx="10789920" cy="12801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3100" b="1">
                <a:solidFill>
                  <a:srgbClr val="FFFFFF"/>
                </a:solidFill>
                <a:latin typeface="Microsoft YaHei"/>
              </a:rPr>
              <a:t>AI 时代数据库内核增强、
库仓一体与 Agent 架构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13232" y="2606040"/>
            <a:ext cx="9875520" cy="6400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0">
                <a:solidFill>
                  <a:srgbClr val="CBD5E1"/>
                </a:solidFill>
                <a:latin typeface="Microsoft YaHei"/>
              </a:rPr>
              <a:t>Oracle 23ai/26ai · PolarDB · OceanBase · Databricks
基于官方资料的技术架构、组件落点与客户实践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232" y="5806440"/>
            <a:ext cx="4754880" cy="32004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94A3B8"/>
                </a:solidFill>
                <a:latin typeface="Microsoft YaHei"/>
              </a:rPr>
              <a:t>可编辑 PowerPoint · 2026-08-16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Microsoft YaHei"/>
              </a:rPr>
              <a:t>研究原则与报告结构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881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</a:rPr>
              <a:t>只采用官方文档、官方产品页、官方博客和官方客户案例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74320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方法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DB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94360" y="1234440"/>
            <a:ext cx="3474720" cy="1188720"/>
          </a:xfrm>
          <a:prstGeom prst="roundRect">
            <a:avLst/>
          </a:prstGeom>
          <a:solidFill>
            <a:srgbClr val="EFF6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1">
                <a:solidFill>
                  <a:srgbClr val="2563EB"/>
                </a:solidFill>
                <a:latin typeface="Microsoft YaHei"/>
              </a:rPr>
              <a:t>厂商事实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475569"/>
                </a:solidFill>
                <a:latin typeface="Microsoft YaHei"/>
              </a:rPr>
              <a:t>每个架构组件和技术结论均标注 [O/P/B/D] 来源编号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43400" y="1234440"/>
            <a:ext cx="3474720" cy="1188720"/>
          </a:xfrm>
          <a:prstGeom prst="roundRect">
            <a:avLst/>
          </a:prstGeom>
          <a:solidFill>
            <a:srgbClr val="F0FDF4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1">
                <a:solidFill>
                  <a:srgbClr val="16A34A"/>
                </a:solidFill>
                <a:latin typeface="Microsoft YaHei"/>
              </a:rPr>
              <a:t>证据边界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475569"/>
                </a:solidFill>
                <a:latin typeface="Microsoft YaHei"/>
              </a:rPr>
              <a:t>公开资料未披露的进程拓扑、事务协议和部署形态明确标为“未披露”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92440" y="1234440"/>
            <a:ext cx="3474720" cy="1188720"/>
          </a:xfrm>
          <a:prstGeom prst="roundRect">
            <a:avLst/>
          </a:prstGeom>
          <a:solidFill>
            <a:srgbClr val="FFF7ED"/>
          </a:solidFill>
          <a:ln w="1778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1">
                <a:solidFill>
                  <a:srgbClr val="EA580C"/>
                </a:solidFill>
                <a:latin typeface="Microsoft YaHei"/>
              </a:rPr>
              <a:t>自研建议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475569"/>
                </a:solidFill>
                <a:latin typeface="Microsoft YaHei"/>
              </a:rPr>
              <a:t>与厂商事实分离：说明哪些应进内核、复制层、AI 节点和控制面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0698480" cy="24688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Microsoft YaHei"/>
              </a:defRPr>
            </a:pPr>
            <a:r>
              <a:t>• Oracle：数据库双格式、Vector/ONNX、Select AI Agent、托管 MCP、Iceberg Lakehouse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Microsoft YaHei"/>
              </a:defRPr>
            </a:pPr>
            <a:r>
              <a:t>• PolarDB：InnoDB IMCI、Redo/物理复制、专属 AI 节点与 Serverless Data-Agent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Microsoft YaHei"/>
              </a:defRPr>
            </a:pPr>
            <a:r>
              <a:t>• OceanBase：HTAP/向量/AI 函数、External Catalog、Lakebase 产品路线及披露边界</a:t>
            </a:r>
          </a:p>
          <a:p>
            <a:pPr>
              <a:spcAft>
                <a:spcPts val="500"/>
              </a:spcAft>
              <a:defRPr sz="1600">
                <a:solidFill>
                  <a:srgbClr val="0F172A"/>
                </a:solidFill>
                <a:latin typeface="Microsoft YaHei"/>
              </a:defRPr>
            </a:pPr>
            <a:r>
              <a:t>• Databricks：Lakebase 存储、LTAP 转码、AI Search 派生索引、Agent Bricks 与 Unity Catalog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9784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</a:rPr>
              <a:t>官方资料编号见末页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Microsoft YaHei"/>
              </a:rPr>
              <a:t>四家厂商的共同终局与不同路径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881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</a:rPr>
              <a:t>都在利用既有数据，但不是同一种实现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74320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总览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DB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02920" y="1234440"/>
          <a:ext cx="11155680" cy="4343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194560"/>
                <a:gridCol w="2651760"/>
                <a:gridCol w="2834640"/>
                <a:gridCol w="2468880"/>
              </a:tblGrid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厂商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既有数据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补 AP/仓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补 AI/Agent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Microsoft YaHei"/>
                        </a:rPr>
                        <a:t>路径本质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Microsoft YaHei"/>
                        </a:rPr>
                        <a:t>Oracle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</a:rPr>
                        <a:t>Oracle 行格式业务数据、外部 Iceberg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</a:rPr>
                        <a:t>实例 SGA 内双格式 IM Column Store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</a:rPr>
                        <a:t>Vector/ONNX/Select AI Agent/托管 MCP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</a:rPr>
                        <a:t>单一数据库内核增强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Microsoft YaHei"/>
                        </a:rPr>
                        <a:t>PolarDB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</a:rPr>
                        <a:t>InnoDB 行存与共享存储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</a:rPr>
                        <a:t>InnoDB IMCI 二级索引；RO 节点 Redo 维护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</a:rPr>
                        <a:t>专属 AI 节点或 Serverless；SQL MLOps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</a:rPr>
                        <a:t>内核 HTAP + 独立 AI 算力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Microsoft YaHei"/>
                        </a:rPr>
                        <a:t>OceanBase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</a:rPr>
                        <a:t>OceanBase 事务数据与外部湖数据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</a:rPr>
                        <a:t>HTAP；External Catalog；Lakebase 路线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</a:rPr>
                        <a:t>向量/语义索引/AI 函数；上层 Agent 产品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</a:rPr>
                        <a:t>数据库向多模和开放湖扩展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0F172A"/>
                          </a:solidFill>
                          <a:latin typeface="Microsoft YaHei"/>
                        </a:rPr>
                        <a:t>Databricks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</a:rPr>
                        <a:t>Delta/Iceberg 与 Lakebase Postgres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</a:rPr>
                        <a:t>LTAP 存储转码为 Parquet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</a:rPr>
                        <a:t>AI Search 与 Agent Bricks 托管服务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50" b="0">
                          <a:solidFill>
                            <a:srgbClr val="475569"/>
                          </a:solidFill>
                          <a:latin typeface="Microsoft YaHei"/>
                        </a:rPr>
                        <a:t>湖仓向 OLTP 扩展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94360" y="5806440"/>
            <a:ext cx="10789920" cy="4572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Microsoft YaHei"/>
              </a:rPr>
              <a:t>关键判断：数据库内核负责确定性数据处理；模型算力和 Agent 编排是否进内核，四家选择不同。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9784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</a:rPr>
              <a:t>官方资料编号见末页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Microsoft YaHei"/>
              </a:rPr>
              <a:t>Oracle 26ai：数据库内核扩展 AI 与湖仓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881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</a:rPr>
              <a:t>26ai 是 23ai 的后续长期支持版本 [O0]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74320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Oracle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DB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H="1">
            <a:off x="2215685" y="2287843"/>
            <a:ext cx="279524" cy="636024"/>
          </a:xfrm>
          <a:prstGeom prst="line">
            <a:avLst/>
          </a:prstGeom>
          <a:ln w="12700">
            <a:solidFill>
              <a:srgbClr val="475569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715367" y="2459551"/>
            <a:ext cx="12801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475569"/>
                </a:solidFill>
                <a:latin typeface="Microsoft YaHei"/>
              </a:rPr>
              <a:t>生成/执行 SQL、调用 PL/SQL 工具</a:t>
            </a:r>
          </a:p>
        </p:txBody>
      </p:sp>
      <p:cxnSp>
        <p:nvCxnSpPr>
          <p:cNvPr id="8" name="Connector 7"/>
          <p:cNvCxnSpPr/>
          <p:nvPr/>
        </p:nvCxnSpPr>
        <p:spPr>
          <a:xfrm flipH="1">
            <a:off x="1021352" y="1906229"/>
            <a:ext cx="6505302" cy="0"/>
          </a:xfrm>
          <a:prstGeom prst="line">
            <a:avLst/>
          </a:prstGeom>
          <a:ln w="12700">
            <a:solidFill>
              <a:srgbClr val="475569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3633923" y="1759925"/>
            <a:ext cx="12801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475569"/>
                </a:solidFill>
                <a:latin typeface="Microsoft YaHei"/>
              </a:rPr>
              <a:t>暴露 Select AI Agent tools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1021352" y="1906229"/>
            <a:ext cx="10164535" cy="0"/>
          </a:xfrm>
          <a:prstGeom prst="line">
            <a:avLst/>
          </a:prstGeom>
          <a:ln w="12700">
            <a:solidFill>
              <a:srgbClr val="475569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463539" y="1759925"/>
            <a:ext cx="12801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475569"/>
                </a:solidFill>
                <a:latin typeface="Microsoft YaHei"/>
              </a:rPr>
              <a:t>模型推理（按配置）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7602889" y="2287843"/>
            <a:ext cx="2058318" cy="636024"/>
          </a:xfrm>
          <a:prstGeom prst="line">
            <a:avLst/>
          </a:prstGeom>
          <a:ln w="12700">
            <a:solidFill>
              <a:srgbClr val="475569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991968" y="2459551"/>
            <a:ext cx="12801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475569"/>
                </a:solidFill>
                <a:latin typeface="Microsoft YaHei"/>
              </a:rPr>
              <a:t>Embedding：外部模型或本地 ONNX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410018" y="3369084"/>
            <a:ext cx="304936" cy="0"/>
          </a:xfrm>
          <a:prstGeom prst="line">
            <a:avLst/>
          </a:prstGeom>
          <a:ln w="12700">
            <a:solidFill>
              <a:srgbClr val="475569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922406" y="3222780"/>
            <a:ext cx="12801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475569"/>
                </a:solidFill>
                <a:latin typeface="Microsoft YaHei"/>
              </a:rPr>
              <a:t>同一数据库对象：后台填充/重填列格式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3410018" y="3369084"/>
            <a:ext cx="2998538" cy="0"/>
          </a:xfrm>
          <a:prstGeom prst="line">
            <a:avLst/>
          </a:prstGeom>
          <a:ln w="12700">
            <a:solidFill>
              <a:srgbClr val="475569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269207" y="3222780"/>
            <a:ext cx="12801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475569"/>
                </a:solidFill>
                <a:latin typeface="Microsoft YaHei"/>
              </a:rPr>
              <a:t>同 SQL 执行计划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2546032" y="3814301"/>
            <a:ext cx="2363255" cy="890434"/>
          </a:xfrm>
          <a:prstGeom prst="line">
            <a:avLst/>
          </a:prstGeom>
          <a:ln w="12700">
            <a:solidFill>
              <a:srgbClr val="475569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087579" y="4113214"/>
            <a:ext cx="12801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475569"/>
                </a:solidFill>
                <a:latin typeface="Microsoft YaHei"/>
              </a:rPr>
              <a:t>扫描/谓词下推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2546032" y="3814301"/>
            <a:ext cx="5056857" cy="890434"/>
          </a:xfrm>
          <a:prstGeom prst="line">
            <a:avLst/>
          </a:prstGeom>
          <a:ln w="12700">
            <a:solidFill>
              <a:srgbClr val="475569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4434380" y="4113214"/>
            <a:ext cx="12801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475569"/>
                </a:solidFill>
                <a:latin typeface="Microsoft YaHei"/>
              </a:rPr>
              <a:t>距离计算与 Top-K 下推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729945" y="5107550"/>
            <a:ext cx="609872" cy="0"/>
          </a:xfrm>
          <a:prstGeom prst="line">
            <a:avLst/>
          </a:prstGeom>
          <a:ln w="12700">
            <a:solidFill>
              <a:srgbClr val="475569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94801" y="4961246"/>
            <a:ext cx="12801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475569"/>
                </a:solidFill>
                <a:latin typeface="Microsoft YaHei"/>
              </a:rPr>
              <a:t>Iceberg/Catalog 解析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215685" y="3814301"/>
            <a:ext cx="3989580" cy="890434"/>
          </a:xfrm>
          <a:prstGeom prst="line">
            <a:avLst/>
          </a:prstGeom>
          <a:ln w="12700">
            <a:solidFill>
              <a:srgbClr val="475569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570395" y="4113214"/>
            <a:ext cx="12801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475569"/>
                </a:solidFill>
                <a:latin typeface="Microsoft YaHei"/>
              </a:rPr>
              <a:t>SQL 原位关联查询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21352" y="1524614"/>
            <a:ext cx="2947715" cy="763229"/>
          </a:xfrm>
          <a:prstGeom prst="roundRect">
            <a:avLst/>
          </a:prstGeom>
          <a:solidFill>
            <a:srgbClr val="DCFCE7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004" bIns="32004"/>
          <a:lstStyle/>
          <a:p>
            <a:pPr algn="ctr"/>
            <a:r>
              <a:rPr sz="650" b="1">
                <a:solidFill>
                  <a:srgbClr val="16A34A"/>
                </a:solidFill>
                <a:latin typeface="Microsoft YaHei"/>
              </a:rPr>
              <a:t>管控面/托管控制服务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6A34A"/>
                </a:solidFill>
                <a:latin typeface="Microsoft YaHei"/>
              </a:rPr>
              <a:t>Select AI Agent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数据库内框架（DBMS_CLOUD_AI_AGENT）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Planning / Tool / Reflection / Memory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[O4]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8939" y="1524614"/>
            <a:ext cx="2947715" cy="763229"/>
          </a:xfrm>
          <a:prstGeom prst="roundRect">
            <a:avLst/>
          </a:prstGeom>
          <a:solidFill>
            <a:srgbClr val="DCFCE7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004" bIns="32004"/>
          <a:lstStyle/>
          <a:p>
            <a:pPr algn="ctr"/>
            <a:r>
              <a:rPr sz="650" b="1">
                <a:solidFill>
                  <a:srgbClr val="16A34A"/>
                </a:solidFill>
                <a:latin typeface="Microsoft YaHei"/>
              </a:rPr>
              <a:t>管控面/托管控制服务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6A34A"/>
                </a:solidFill>
                <a:latin typeface="Microsoft YaHei"/>
              </a:rPr>
              <a:t>Autonomous AI Database MCP Server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每数据库托管、多租户 MCP 服务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无需客户另建 MCP 基础设施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[O5]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136527" y="1524614"/>
            <a:ext cx="3049360" cy="763229"/>
          </a:xfrm>
          <a:prstGeom prst="roundRect">
            <a:avLst/>
          </a:prstGeom>
          <a:solidFill>
            <a:srgbClr val="FFEDD5"/>
          </a:solidFill>
          <a:ln w="1778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004" bIns="32004"/>
          <a:lstStyle/>
          <a:p>
            <a:pPr algn="ctr"/>
            <a:r>
              <a:rPr sz="650" b="1">
                <a:solidFill>
                  <a:srgbClr val="EA580C"/>
                </a:solidFill>
                <a:latin typeface="Microsoft YaHei"/>
              </a:rPr>
              <a:t>独立计算或托管服务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EA580C"/>
                </a:solidFill>
                <a:latin typeface="Microsoft YaHei"/>
              </a:rPr>
              <a:t>模型来源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外部 LLM Provider（可选）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或数据库内加载 ONNX Embedding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[O4][O6]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21352" y="2923867"/>
            <a:ext cx="2388665" cy="890433"/>
          </a:xfrm>
          <a:prstGeom prst="roundRect">
            <a:avLst/>
          </a:prstGeom>
          <a:solidFill>
            <a:srgbClr val="DBEAFE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004" bIns="32004"/>
          <a:lstStyle/>
          <a:p>
            <a:pPr algn="ctr"/>
            <a:r>
              <a:rPr sz="650" b="1">
                <a:solidFill>
                  <a:srgbClr val="2563EB"/>
                </a:solidFill>
                <a:latin typeface="Microsoft YaHei"/>
              </a:rPr>
              <a:t>数据库内核/数据库节点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563EB"/>
                </a:solidFill>
                <a:latin typeface="Microsoft YaHei"/>
              </a:rPr>
              <a:t>OLTP 行格式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Buffer Cache / ACID / SQL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适合点查与更新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[O1]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3714954" y="2923867"/>
            <a:ext cx="2388665" cy="890433"/>
          </a:xfrm>
          <a:prstGeom prst="roundRect">
            <a:avLst/>
          </a:prstGeom>
          <a:solidFill>
            <a:srgbClr val="DBEAFE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004" bIns="32004"/>
          <a:lstStyle/>
          <a:p>
            <a:pPr algn="ctr"/>
            <a:r>
              <a:rPr sz="650" b="1">
                <a:solidFill>
                  <a:srgbClr val="2563EB"/>
                </a:solidFill>
                <a:latin typeface="Microsoft YaHei"/>
              </a:rPr>
              <a:t>数据库内核/数据库节点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563EB"/>
                </a:solidFill>
                <a:latin typeface="Microsoft YaHei"/>
              </a:rPr>
              <a:t>Database In-Memory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SGA 内 IM Column Store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后台 IMCO/SMCO/Wnnn 填充与重填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不是外部 CDC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[O1][O2]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408556" y="2923867"/>
            <a:ext cx="2388665" cy="890433"/>
          </a:xfrm>
          <a:prstGeom prst="roundRect">
            <a:avLst/>
          </a:prstGeom>
          <a:solidFill>
            <a:srgbClr val="DBEAFE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004" bIns="32004"/>
          <a:lstStyle/>
          <a:p>
            <a:pPr algn="ctr"/>
            <a:r>
              <a:rPr sz="650" b="1">
                <a:solidFill>
                  <a:srgbClr val="2563EB"/>
                </a:solidFill>
                <a:latin typeface="Microsoft YaHei"/>
              </a:rPr>
              <a:t>数据库内核/数据库节点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563EB"/>
                </a:solidFill>
                <a:latin typeface="Microsoft YaHei"/>
              </a:rPr>
              <a:t>AI Vector Search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VECTOR 类型 / 向量池 / 索引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关系条件与向量检索同 SQL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[O1][O3]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02158" y="2923867"/>
            <a:ext cx="2083729" cy="890433"/>
          </a:xfrm>
          <a:prstGeom prst="roundRect">
            <a:avLst/>
          </a:prstGeom>
          <a:solidFill>
            <a:srgbClr val="DBEAFE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004" bIns="32004"/>
          <a:lstStyle/>
          <a:p>
            <a:pPr algn="ctr"/>
            <a:r>
              <a:rPr sz="650" b="1">
                <a:solidFill>
                  <a:srgbClr val="2563EB"/>
                </a:solidFill>
                <a:latin typeface="Microsoft YaHei"/>
              </a:rPr>
              <a:t>数据库内核/数据库节点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563EB"/>
                </a:solidFill>
                <a:latin typeface="Microsoft YaHei"/>
              </a:rPr>
              <a:t>Converged Engine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JSON / Graph / Spatial / Relational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统一安全与事务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[O1]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1352" y="4704735"/>
            <a:ext cx="3049360" cy="805630"/>
          </a:xfrm>
          <a:prstGeom prst="roundRect">
            <a:avLst/>
          </a:prstGeom>
          <a:solidFill>
            <a:srgbClr val="F1F5F9"/>
          </a:solidFill>
          <a:ln w="1778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004" bIns="32004"/>
          <a:lstStyle/>
          <a:p>
            <a:pPr algn="ctr"/>
            <a:r>
              <a:rPr sz="650" b="1">
                <a:solidFill>
                  <a:srgbClr val="64748B"/>
                </a:solidFill>
                <a:latin typeface="Microsoft YaHei"/>
              </a:rPr>
              <a:t>存储/Catalog/开放格式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Microsoft YaHei"/>
              </a:rPr>
              <a:t>Exadata AI Smart Scan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存储服务器执行距离计算与 Top-K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减少网络与 DB Server 处理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[O3]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680585" y="4704735"/>
            <a:ext cx="3049360" cy="805630"/>
          </a:xfrm>
          <a:prstGeom prst="roundRect">
            <a:avLst/>
          </a:prstGeom>
          <a:solidFill>
            <a:srgbClr val="F1F5F9"/>
          </a:solidFill>
          <a:ln w="1778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004" bIns="32004"/>
          <a:lstStyle/>
          <a:p>
            <a:pPr algn="ctr"/>
            <a:r>
              <a:rPr sz="650" b="1">
                <a:solidFill>
                  <a:srgbClr val="64748B"/>
                </a:solidFill>
                <a:latin typeface="Microsoft YaHei"/>
              </a:rPr>
              <a:t>存储/Catalog/开放格式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Microsoft YaHei"/>
              </a:rPr>
              <a:t>Autonomous AI Lakehouse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外部 Apache Iceberg 表原位查询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统一 Catalog / Data Lake Accelerator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[O7]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339817" y="4704735"/>
            <a:ext cx="2846070" cy="805630"/>
          </a:xfrm>
          <a:prstGeom prst="roundRect">
            <a:avLst/>
          </a:prstGeom>
          <a:solidFill>
            <a:srgbClr val="F1F5F9"/>
          </a:solidFill>
          <a:ln w="1778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004" bIns="32004"/>
          <a:lstStyle/>
          <a:p>
            <a:pPr algn="ctr"/>
            <a:r>
              <a:rPr sz="650" b="1">
                <a:solidFill>
                  <a:srgbClr val="64748B"/>
                </a:solidFill>
                <a:latin typeface="Microsoft YaHei"/>
              </a:rPr>
              <a:t>存储/Catalog/开放格式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Microsoft YaHei"/>
              </a:rPr>
              <a:t>对象存储 / Iceberg 数据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OCI / AWS / Azure / GCP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开放数据保留在原位置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[O7]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02920" y="6144768"/>
            <a:ext cx="1993392" cy="201168"/>
          </a:xfrm>
          <a:prstGeom prst="roundRect">
            <a:avLst/>
          </a:prstGeom>
          <a:solidFill>
            <a:srgbClr val="DBEAFE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720" b="1">
                <a:solidFill>
                  <a:srgbClr val="2563EB"/>
                </a:solidFill>
                <a:latin typeface="Microsoft YaHei"/>
              </a:rPr>
              <a:t>数据库内核/数据库节点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2651760" y="6144768"/>
            <a:ext cx="1993392" cy="201168"/>
          </a:xfrm>
          <a:prstGeom prst="roundRect">
            <a:avLst/>
          </a:prstGeom>
          <a:solidFill>
            <a:srgbClr val="DCFCE7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720" b="1">
                <a:solidFill>
                  <a:srgbClr val="16A34A"/>
                </a:solidFill>
                <a:latin typeface="Microsoft YaHei"/>
              </a:rPr>
              <a:t>管控面/托管控制服务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4800600" y="6144768"/>
            <a:ext cx="1993392" cy="201168"/>
          </a:xfrm>
          <a:prstGeom prst="roundRect">
            <a:avLst/>
          </a:prstGeom>
          <a:solidFill>
            <a:srgbClr val="CFFAFE"/>
          </a:solidFill>
          <a:ln w="1778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720" b="1">
                <a:solidFill>
                  <a:srgbClr val="0891B2"/>
                </a:solidFill>
                <a:latin typeface="Microsoft YaHei"/>
              </a:rPr>
              <a:t>复制/同步/转码路径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949440" y="6144768"/>
            <a:ext cx="1993392" cy="201168"/>
          </a:xfrm>
          <a:prstGeom prst="roundRect">
            <a:avLst/>
          </a:prstGeom>
          <a:solidFill>
            <a:srgbClr val="FFEDD5"/>
          </a:solidFill>
          <a:ln w="1778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720" b="1">
                <a:solidFill>
                  <a:srgbClr val="EA580C"/>
                </a:solidFill>
                <a:latin typeface="Microsoft YaHei"/>
              </a:rPr>
              <a:t>独立计算或托管服务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9098280" y="6144768"/>
            <a:ext cx="1993392" cy="201168"/>
          </a:xfrm>
          <a:prstGeom prst="roundRect">
            <a:avLst/>
          </a:prstGeom>
          <a:solidFill>
            <a:srgbClr val="F1F5F9"/>
          </a:solidFill>
          <a:ln w="1778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720" b="1">
                <a:solidFill>
                  <a:srgbClr val="64748B"/>
                </a:solidFill>
                <a:latin typeface="Microsoft YaHei"/>
              </a:rPr>
              <a:t>存储/Catalog/开放格式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" y="6510528"/>
            <a:ext cx="9784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</a:rPr>
              <a:t>来源：[O0]-[O7]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Microsoft YaHei"/>
              </a:rPr>
              <a:t>Oracle：TP、AP、AI 与湖如何协同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74320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Oracle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DB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48640" y="1188720"/>
            <a:ext cx="3566160" cy="1325880"/>
          </a:xfrm>
          <a:prstGeom prst="roundRect">
            <a:avLst/>
          </a:prstGeom>
          <a:solidFill>
            <a:srgbClr val="EFF6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1">
                <a:solidFill>
                  <a:srgbClr val="2563EB"/>
                </a:solidFill>
                <a:latin typeface="Microsoft YaHei"/>
              </a:rPr>
              <a:t>① 双格式内核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475569"/>
                </a:solidFill>
                <a:latin typeface="Microsoft YaHei"/>
              </a:rPr>
              <a:t>Buffer Cache 保存行格式，IM Column Store 保存列格式；优化器透明选择，数据库后台进程填充/重填 [O1][O2]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1188720"/>
            <a:ext cx="3566160" cy="1325880"/>
          </a:xfrm>
          <a:prstGeom prst="roundRect">
            <a:avLst/>
          </a:prstGeom>
          <a:solidFill>
            <a:srgbClr val="EFF6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1">
                <a:solidFill>
                  <a:srgbClr val="2563EB"/>
                </a:solidFill>
                <a:latin typeface="Microsoft YaHei"/>
              </a:rPr>
              <a:t>② Converged AI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475569"/>
                </a:solidFill>
                <a:latin typeface="Microsoft YaHei"/>
              </a:rPr>
              <a:t>VECTOR、关系、JSON、Graph 在同一数据库；可加载本地 ONNX，也可调用外部模型 [O1][O6]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3296" y="1188720"/>
            <a:ext cx="3566160" cy="1325880"/>
          </a:xfrm>
          <a:prstGeom prst="roundRect">
            <a:avLst/>
          </a:prstGeom>
          <a:solidFill>
            <a:srgbClr val="F0FDF4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1">
                <a:solidFill>
                  <a:srgbClr val="16A34A"/>
                </a:solidFill>
                <a:latin typeface="Microsoft YaHei"/>
              </a:rPr>
              <a:t>③ Agent 与 MCP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475569"/>
                </a:solidFill>
                <a:latin typeface="Microsoft YaHei"/>
              </a:rPr>
              <a:t>Select AI Agent 由 DBMS_CLOUD_AI_AGENT 管理；Autonomous DB 提供每数据库托管 MCP endpoint [O4][O5]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926080"/>
            <a:ext cx="5394960" cy="1417320"/>
          </a:xfrm>
          <a:prstGeom prst="roundRect">
            <a:avLst/>
          </a:prstGeom>
          <a:solidFill>
            <a:srgbClr val="F8FAFC"/>
          </a:solidFill>
          <a:ln w="1778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1">
                <a:solidFill>
                  <a:srgbClr val="64748B"/>
                </a:solidFill>
                <a:latin typeface="Microsoft YaHei"/>
              </a:rPr>
              <a:t>④ Exadata 下推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475569"/>
                </a:solidFill>
                <a:latin typeface="Microsoft YaHei"/>
              </a:rPr>
              <a:t>AI Smart Scan 在存储服务器执行向量距离计算和 Top-K，减少网络传输和 DB Server 处理 [O3]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200" y="2926080"/>
            <a:ext cx="5440680" cy="1417320"/>
          </a:xfrm>
          <a:prstGeom prst="roundRect">
            <a:avLst/>
          </a:prstGeom>
          <a:solidFill>
            <a:srgbClr val="F8FAFC"/>
          </a:solidFill>
          <a:ln w="1778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1">
                <a:solidFill>
                  <a:srgbClr val="64748B"/>
                </a:solidFill>
                <a:latin typeface="Microsoft YaHei"/>
              </a:rPr>
              <a:t>⑤ Iceberg 湖仓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475569"/>
                </a:solidFill>
                <a:latin typeface="Microsoft YaHei"/>
              </a:rPr>
              <a:t>Autonomous AI Lakehouse 原位查询 Apache Iceberg，并使用统一 Catalog 与 Data Lake Accelerator [O7]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4800600"/>
            <a:ext cx="10789920" cy="11430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  <a:defRPr sz="1400">
                <a:solidFill>
                  <a:srgbClr val="EA580C"/>
                </a:solidFill>
                <a:latin typeface="Microsoft YaHei"/>
              </a:defRPr>
            </a:pPr>
            <a:r>
              <a:t>• 纠正：IM Column Store 不是外部 CDC/Redo 直灌服务；它位于数据库实例 SGA。</a:t>
            </a:r>
          </a:p>
          <a:p>
            <a:pPr>
              <a:spcAft>
                <a:spcPts val="500"/>
              </a:spcAft>
              <a:defRPr sz="1400">
                <a:solidFill>
                  <a:srgbClr val="EA580C"/>
                </a:solidFill>
                <a:latin typeface="Microsoft YaHei"/>
              </a:defRPr>
            </a:pPr>
            <a:r>
              <a:t>• 纠正：Autonomous AI Database MCP 是托管能力，不要求客户自建 Sidecar。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9784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</a:rPr>
              <a:t>来源：[O1]-[O7]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Microsoft YaHei"/>
              </a:rPr>
              <a:t>Oracle 官方客户实践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881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</a:rPr>
              <a:t>利用原有数据库数据直接叠加 Vector Search 与 Select 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74320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Oracle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DB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325880"/>
            <a:ext cx="5257800" cy="3383280"/>
          </a:xfrm>
          <a:prstGeom prst="roundRect">
            <a:avLst/>
          </a:prstGeom>
          <a:solidFill>
            <a:srgbClr val="EFF6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000" b="1">
                <a:solidFill>
                  <a:srgbClr val="2563EB"/>
                </a:solidFill>
                <a:latin typeface="Microsoft YaHei"/>
              </a:rPr>
              <a:t>Retraced</a:t>
            </a:r>
          </a:p>
          <a:p>
            <a:pPr algn="ctr">
              <a:spcBef>
                <a:spcPts val="400"/>
              </a:spcBef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供应商生命周期与合规平台
在原有 Autonomous Database 上升级 26ai，使用 AI Vector Search 和 Select AI。
官方结果：供应商重复记录减少 80%。
来源：[O8]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325880"/>
            <a:ext cx="5257800" cy="3383280"/>
          </a:xfrm>
          <a:prstGeom prst="roundRect">
            <a:avLst/>
          </a:prstGeom>
          <a:solidFill>
            <a:srgbClr val="F0FDF4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000" b="1">
                <a:solidFill>
                  <a:srgbClr val="16A34A"/>
                </a:solidFill>
                <a:latin typeface="Microsoft YaHei"/>
              </a:rPr>
              <a:t>Rappi</a:t>
            </a:r>
          </a:p>
          <a:p>
            <a:pPr algn="ctr">
              <a:spcBef>
                <a:spcPts val="400"/>
              </a:spcBef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拉美即时配送平台
Autonomous AI Database + AI Vector Search 直接处理既有商品目录，避免在专用数据库间搬数据。
官方结果：搜索响应延迟降低 40%。
来源：[O9]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074920"/>
            <a:ext cx="10241280" cy="6858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Microsoft YaHei"/>
              </a:rPr>
              <a:t>客户价值：既有交易/目录数据不必先迁移到独立向量库，即可增加语义检索和自然语言访问。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9784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</a:rPr>
              <a:t>来源：[O8][O9]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Microsoft YaHei"/>
              </a:rPr>
              <a:t>PolarDB：InnoDB IMCI + 独立 AI 节点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881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</a:rPr>
              <a:t>内核 HTAP 与 AI 算力解耦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74320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PolarDB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DB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816599" y="1927429"/>
            <a:ext cx="762340" cy="0"/>
          </a:xfrm>
          <a:prstGeom prst="line">
            <a:avLst/>
          </a:prstGeom>
          <a:ln w="12700">
            <a:solidFill>
              <a:srgbClr val="475569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557689" y="1781125"/>
            <a:ext cx="12801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475569"/>
                </a:solidFill>
                <a:latin typeface="Microsoft YaHei"/>
              </a:rPr>
              <a:t>提交后复制 Redo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323364" y="1927429"/>
            <a:ext cx="762340" cy="0"/>
          </a:xfrm>
          <a:prstGeom prst="line">
            <a:avLst/>
          </a:prstGeom>
          <a:ln w="12700">
            <a:solidFill>
              <a:srgbClr val="475569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064454" y="1781125"/>
            <a:ext cx="12801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475569"/>
                </a:solidFill>
                <a:latin typeface="Microsoft YaHei"/>
              </a:rPr>
              <a:t>后台构建/增量维护列存索引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2418975" y="1524614"/>
            <a:ext cx="127057" cy="2374490"/>
          </a:xfrm>
          <a:prstGeom prst="line">
            <a:avLst/>
          </a:prstGeom>
          <a:ln w="12700">
            <a:solidFill>
              <a:srgbClr val="475569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1842424" y="2565555"/>
            <a:ext cx="12801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475569"/>
                </a:solidFill>
                <a:latin typeface="Microsoft YaHei"/>
              </a:rPr>
              <a:t>共享数据文件</a:t>
            </a:r>
          </a:p>
        </p:txBody>
      </p:sp>
      <p:cxnSp>
        <p:nvCxnSpPr>
          <p:cNvPr id="12" name="Connector 11"/>
          <p:cNvCxnSpPr/>
          <p:nvPr/>
        </p:nvCxnSpPr>
        <p:spPr>
          <a:xfrm flipV="1">
            <a:off x="2546032" y="1524614"/>
            <a:ext cx="7089764" cy="2374490"/>
          </a:xfrm>
          <a:prstGeom prst="line">
            <a:avLst/>
          </a:prstGeom>
          <a:ln w="12700">
            <a:solidFill>
              <a:srgbClr val="475569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5450834" y="2565555"/>
            <a:ext cx="12801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475569"/>
                </a:solidFill>
                <a:latin typeface="Microsoft YaHei"/>
              </a:rPr>
              <a:t>列存溢写/共享 I/O</a:t>
            </a:r>
          </a:p>
        </p:txBody>
      </p:sp>
      <p:cxnSp>
        <p:nvCxnSpPr>
          <p:cNvPr id="14" name="Connector 13"/>
          <p:cNvCxnSpPr/>
          <p:nvPr/>
        </p:nvCxnSpPr>
        <p:spPr>
          <a:xfrm flipV="1">
            <a:off x="2546032" y="3135875"/>
            <a:ext cx="3557588" cy="2374491"/>
          </a:xfrm>
          <a:prstGeom prst="line">
            <a:avLst/>
          </a:prstGeom>
          <a:ln w="12700">
            <a:solidFill>
              <a:srgbClr val="475569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684746" y="4176816"/>
            <a:ext cx="12801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475569"/>
                </a:solidFill>
                <a:latin typeface="Microsoft YaHei"/>
              </a:rPr>
              <a:t>SQL 路由模型训练/推理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546032" y="3135875"/>
            <a:ext cx="7115175" cy="2374491"/>
          </a:xfrm>
          <a:prstGeom prst="line">
            <a:avLst/>
          </a:prstGeom>
          <a:ln w="12700">
            <a:solidFill>
              <a:srgbClr val="475569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463540" y="4176816"/>
            <a:ext cx="12801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475569"/>
                </a:solidFill>
                <a:latin typeface="Microsoft YaHei"/>
              </a:rPr>
              <a:t>按模式选择专属或 Serverless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6103620" y="3899104"/>
            <a:ext cx="101645" cy="805631"/>
          </a:xfrm>
          <a:prstGeom prst="line">
            <a:avLst/>
          </a:prstGeom>
          <a:ln w="12700">
            <a:solidFill>
              <a:srgbClr val="475569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5514362" y="4155616"/>
            <a:ext cx="12801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475569"/>
                </a:solidFill>
                <a:latin typeface="Microsoft YaHei"/>
              </a:rPr>
              <a:t>Embedding / LLM</a:t>
            </a:r>
          </a:p>
        </p:txBody>
      </p:sp>
      <p:cxnSp>
        <p:nvCxnSpPr>
          <p:cNvPr id="20" name="Connector 19"/>
          <p:cNvCxnSpPr/>
          <p:nvPr/>
        </p:nvCxnSpPr>
        <p:spPr>
          <a:xfrm flipH="1">
            <a:off x="6205265" y="2330245"/>
            <a:ext cx="3430531" cy="2374490"/>
          </a:xfrm>
          <a:prstGeom prst="line">
            <a:avLst/>
          </a:prstGeom>
          <a:ln w="12700">
            <a:solidFill>
              <a:srgbClr val="475569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7280450" y="3371186"/>
            <a:ext cx="12801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475569"/>
                </a:solidFill>
                <a:latin typeface="Microsoft YaHei"/>
              </a:rPr>
              <a:t>向量索引与检索</a:t>
            </a:r>
          </a:p>
        </p:txBody>
      </p:sp>
      <p:cxnSp>
        <p:nvCxnSpPr>
          <p:cNvPr id="22" name="Connector 21"/>
          <p:cNvCxnSpPr/>
          <p:nvPr/>
        </p:nvCxnSpPr>
        <p:spPr>
          <a:xfrm flipH="1">
            <a:off x="1021352" y="5107550"/>
            <a:ext cx="10164535" cy="0"/>
          </a:xfrm>
          <a:prstGeom prst="line">
            <a:avLst/>
          </a:prstGeom>
          <a:ln w="12700">
            <a:solidFill>
              <a:srgbClr val="475569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5463539" y="4961246"/>
            <a:ext cx="12801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475569"/>
                </a:solidFill>
                <a:latin typeface="Microsoft YaHei"/>
              </a:rPr>
              <a:t>自然语言请求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1352" y="1524614"/>
            <a:ext cx="2795247" cy="805630"/>
          </a:xfrm>
          <a:prstGeom prst="roundRect">
            <a:avLst/>
          </a:prstGeom>
          <a:solidFill>
            <a:srgbClr val="DBEAFE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004" bIns="32004"/>
          <a:lstStyle/>
          <a:p>
            <a:pPr algn="ctr"/>
            <a:r>
              <a:rPr sz="650" b="1">
                <a:solidFill>
                  <a:srgbClr val="2563EB"/>
                </a:solidFill>
                <a:latin typeface="Microsoft YaHei"/>
              </a:rPr>
              <a:t>数据库内核/数据库节点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563EB"/>
                </a:solidFill>
                <a:latin typeface="Microsoft YaHei"/>
              </a:rPr>
              <a:t>RW 主节点 / InnoDB 行存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OLTP 写入、事务与 Redo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列存索引以 InnoDB Secondary Index 实现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[P1][P2]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8939" y="1524614"/>
            <a:ext cx="2744424" cy="805630"/>
          </a:xfrm>
          <a:prstGeom prst="roundRect">
            <a:avLst/>
          </a:prstGeom>
          <a:solidFill>
            <a:srgbClr val="CFFAFE"/>
          </a:solidFill>
          <a:ln w="1778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004" bIns="32004"/>
          <a:lstStyle/>
          <a:p>
            <a:pPr algn="ctr"/>
            <a:r>
              <a:rPr sz="650" b="1">
                <a:solidFill>
                  <a:srgbClr val="0891B2"/>
                </a:solidFill>
                <a:latin typeface="Microsoft YaHei"/>
              </a:rPr>
              <a:t>复制/同步/转码路径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891B2"/>
                </a:solidFill>
                <a:latin typeface="Microsoft YaHei"/>
              </a:rPr>
              <a:t>PolarDB 物理复制 / Redo 回放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RO/Standby 节点从 Redo 重建与维护 IMCI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不是 Kafka/Flink 外部 ETL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[P1][P2][P3]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85704" y="1524614"/>
            <a:ext cx="3100183" cy="805630"/>
          </a:xfrm>
          <a:prstGeom prst="roundRect">
            <a:avLst/>
          </a:prstGeom>
          <a:solidFill>
            <a:srgbClr val="DBEAFE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004" bIns="32004"/>
          <a:lstStyle/>
          <a:p>
            <a:pPr algn="ctr"/>
            <a:r>
              <a:rPr sz="650" b="1">
                <a:solidFill>
                  <a:srgbClr val="2563EB"/>
                </a:solidFill>
                <a:latin typeface="Microsoft YaHei"/>
              </a:rPr>
              <a:t>数据库内核/数据库节点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563EB"/>
                </a:solidFill>
                <a:latin typeface="Microsoft YaHei"/>
              </a:rPr>
              <a:t>RO AP 节点 / IMCI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压缩列存：默认内存，不足时落共享存储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行存串行/并行/IMCI 三路径成本选择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[P1][P2]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1352" y="3135875"/>
            <a:ext cx="3049360" cy="763229"/>
          </a:xfrm>
          <a:prstGeom prst="roundRect">
            <a:avLst/>
          </a:prstGeom>
          <a:solidFill>
            <a:srgbClr val="F1F5F9"/>
          </a:solidFill>
          <a:ln w="1778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004" bIns="32004"/>
          <a:lstStyle/>
          <a:p>
            <a:pPr algn="ctr"/>
            <a:r>
              <a:rPr sz="650" b="1">
                <a:solidFill>
                  <a:srgbClr val="64748B"/>
                </a:solidFill>
                <a:latin typeface="Microsoft YaHei"/>
              </a:rPr>
              <a:t>存储/Catalog/开放格式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Microsoft YaHei"/>
              </a:rPr>
              <a:t>PolarDB 共享存储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一写多读；IMCI 可部署 RW、专用 AP RO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或独立 Standby，隔离级别不同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[P1]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8939" y="3135875"/>
            <a:ext cx="3049360" cy="763229"/>
          </a:xfrm>
          <a:prstGeom prst="roundRect">
            <a:avLst/>
          </a:prstGeom>
          <a:solidFill>
            <a:srgbClr val="FFEDD5"/>
          </a:solidFill>
          <a:ln w="1778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004" bIns="32004"/>
          <a:lstStyle/>
          <a:p>
            <a:pPr algn="ctr"/>
            <a:r>
              <a:rPr sz="650" b="1">
                <a:solidFill>
                  <a:srgbClr val="EA580C"/>
                </a:solidFill>
                <a:latin typeface="Microsoft YaHei"/>
              </a:rPr>
              <a:t>独立计算或托管服务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EA580C"/>
                </a:solidFill>
                <a:latin typeface="Microsoft YaHei"/>
              </a:rPr>
              <a:t>PolarDB for AI 节点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独立计费计算节点；可含 GPU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隔离 AI/ML 训练与推理负载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[P4][P5]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36527" y="3135875"/>
            <a:ext cx="3049360" cy="763229"/>
          </a:xfrm>
          <a:prstGeom prst="roundRect">
            <a:avLst/>
          </a:prstGeom>
          <a:solidFill>
            <a:srgbClr val="FFEDD5"/>
          </a:solidFill>
          <a:ln w="1778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004" bIns="32004"/>
          <a:lstStyle/>
          <a:p>
            <a:pPr algn="ctr"/>
            <a:r>
              <a:rPr sz="650" b="1">
                <a:solidFill>
                  <a:srgbClr val="EA580C"/>
                </a:solidFill>
                <a:latin typeface="Microsoft YaHei"/>
              </a:rPr>
              <a:t>独立计算或托管服务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EA580C"/>
                </a:solidFill>
                <a:latin typeface="Microsoft YaHei"/>
              </a:rPr>
              <a:t>PolarDB for AI Serverless / VNode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Data-Agent 可选 Serverless 调用计费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GPU VNode 以 Pod 调度到托管资源池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[P5][P6]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1352" y="4704735"/>
            <a:ext cx="3049360" cy="805630"/>
          </a:xfrm>
          <a:prstGeom prst="roundRect">
            <a:avLst/>
          </a:prstGeom>
          <a:solidFill>
            <a:srgbClr val="DCFCE7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004" bIns="32004"/>
          <a:lstStyle/>
          <a:p>
            <a:pPr algn="ctr"/>
            <a:r>
              <a:rPr sz="650" b="1">
                <a:solidFill>
                  <a:srgbClr val="16A34A"/>
                </a:solidFill>
                <a:latin typeface="Microsoft YaHei"/>
              </a:rPr>
              <a:t>管控面/托管控制服务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6A34A"/>
                </a:solidFill>
                <a:latin typeface="Microsoft YaHei"/>
              </a:rPr>
              <a:t>SQL / Data-Agent 接口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PolarDB for AI 通过 SQL 提供 MLOps、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NL2SQL、NL2Chart、Summary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[P4][P6]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80585" y="4704735"/>
            <a:ext cx="3049360" cy="805630"/>
          </a:xfrm>
          <a:prstGeom prst="roundRect">
            <a:avLst/>
          </a:prstGeom>
          <a:solidFill>
            <a:srgbClr val="DBEAFE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004" bIns="32004"/>
          <a:lstStyle/>
          <a:p>
            <a:pPr algn="ctr"/>
            <a:r>
              <a:rPr sz="650" b="1">
                <a:solidFill>
                  <a:srgbClr val="2563EB"/>
                </a:solidFill>
                <a:latin typeface="Microsoft YaHei"/>
              </a:rPr>
              <a:t>数据库内核/数据库节点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563EB"/>
                </a:solidFill>
                <a:latin typeface="Microsoft YaHei"/>
              </a:rPr>
              <a:t>IMCI 向量/RAG 数据路径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列存节点构建向量索引并检索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AI 节点提供向量化与 LLM 能力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[P7]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39817" y="4704735"/>
            <a:ext cx="2846070" cy="805630"/>
          </a:xfrm>
          <a:prstGeom prst="roundRect">
            <a:avLst/>
          </a:prstGeom>
          <a:solidFill>
            <a:srgbClr val="DCFCE7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004" bIns="32004"/>
          <a:lstStyle/>
          <a:p>
            <a:pPr algn="ctr"/>
            <a:r>
              <a:rPr sz="650" b="1">
                <a:solidFill>
                  <a:srgbClr val="16A34A"/>
                </a:solidFill>
                <a:latin typeface="Microsoft YaHei"/>
              </a:rPr>
              <a:t>管控面/托管控制服务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6A34A"/>
                </a:solidFill>
                <a:latin typeface="Microsoft YaHei"/>
              </a:rPr>
              <a:t>DMS + PolarDB for AI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面向业务用户的自然语言分析入口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雅迪 10万+ 销售、准确率超90%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[P8]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6144768"/>
            <a:ext cx="1993392" cy="201168"/>
          </a:xfrm>
          <a:prstGeom prst="roundRect">
            <a:avLst/>
          </a:prstGeom>
          <a:solidFill>
            <a:srgbClr val="DBEAFE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720" b="1">
                <a:solidFill>
                  <a:srgbClr val="2563EB"/>
                </a:solidFill>
                <a:latin typeface="Microsoft YaHei"/>
              </a:rPr>
              <a:t>数据库内核/数据库节点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51760" y="6144768"/>
            <a:ext cx="1993392" cy="201168"/>
          </a:xfrm>
          <a:prstGeom prst="roundRect">
            <a:avLst/>
          </a:prstGeom>
          <a:solidFill>
            <a:srgbClr val="DCFCE7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720" b="1">
                <a:solidFill>
                  <a:srgbClr val="16A34A"/>
                </a:solidFill>
                <a:latin typeface="Microsoft YaHei"/>
              </a:rPr>
              <a:t>管控面/托管控制服务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00600" y="6144768"/>
            <a:ext cx="1993392" cy="201168"/>
          </a:xfrm>
          <a:prstGeom prst="roundRect">
            <a:avLst/>
          </a:prstGeom>
          <a:solidFill>
            <a:srgbClr val="CFFAFE"/>
          </a:solidFill>
          <a:ln w="1778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720" b="1">
                <a:solidFill>
                  <a:srgbClr val="0891B2"/>
                </a:solidFill>
                <a:latin typeface="Microsoft YaHei"/>
              </a:rPr>
              <a:t>复制/同步/转码路径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49440" y="6144768"/>
            <a:ext cx="1993392" cy="201168"/>
          </a:xfrm>
          <a:prstGeom prst="roundRect">
            <a:avLst/>
          </a:prstGeom>
          <a:solidFill>
            <a:srgbClr val="FFEDD5"/>
          </a:solidFill>
          <a:ln w="1778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720" b="1">
                <a:solidFill>
                  <a:srgbClr val="EA580C"/>
                </a:solidFill>
                <a:latin typeface="Microsoft YaHei"/>
              </a:rPr>
              <a:t>独立计算或托管服务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98280" y="6144768"/>
            <a:ext cx="1993392" cy="201168"/>
          </a:xfrm>
          <a:prstGeom prst="roundRect">
            <a:avLst/>
          </a:prstGeom>
          <a:solidFill>
            <a:srgbClr val="F1F5F9"/>
          </a:solidFill>
          <a:ln w="1778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720" b="1">
                <a:solidFill>
                  <a:srgbClr val="64748B"/>
                </a:solidFill>
                <a:latin typeface="Microsoft YaHei"/>
              </a:rPr>
              <a:t>存储/Catalog/开放格式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10528"/>
            <a:ext cx="9784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</a:rPr>
              <a:t>来源：[P1]-[P8]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Microsoft YaHei"/>
              </a:rPr>
              <a:t>PolarDB：内核与服务部署边界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74320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PolarDB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DB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188720"/>
          <a:ext cx="11155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3474720"/>
                <a:gridCol w="2331720"/>
                <a:gridCol w="3931920"/>
              </a:tblGrid>
              <a:tr h="75438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组件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公开实现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物理落点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FFFFFF"/>
                          </a:solidFill>
                          <a:latin typeface="Microsoft YaHei"/>
                        </a:rPr>
                        <a:t>为什么这样设计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Microsoft YaHei"/>
                        </a:rPr>
                        <a:t>IMCI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475569"/>
                          </a:solidFill>
                          <a:latin typeface="Microsoft YaHei"/>
                        </a:rPr>
                        <a:t>InnoDB 列存二级索引；默认驻内存，可落共享存储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475569"/>
                          </a:solidFill>
                          <a:latin typeface="Microsoft YaHei"/>
                        </a:rPr>
                        <a:t>数据库内核 / RO AP 节点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475569"/>
                          </a:solidFill>
                          <a:latin typeface="Microsoft YaHei"/>
                        </a:rPr>
                        <a:t>复用事务、Redo、物理复制和 MySQL 兼容性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Microsoft YaHei"/>
                        </a:rPr>
                        <a:t>Redo 同步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475569"/>
                          </a:solidFill>
                          <a:latin typeface="Microsoft YaHei"/>
                        </a:rPr>
                        <a:t>RW 生成 Redo；RO/Standby 后台构建和维护列索引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475569"/>
                          </a:solidFill>
                          <a:latin typeface="Microsoft YaHei"/>
                        </a:rPr>
                        <a:t>数据库复制层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475569"/>
                          </a:solidFill>
                          <a:latin typeface="Microsoft YaHei"/>
                        </a:rPr>
                        <a:t>避免 Kafka/Flink 外部 ETL，降低主节点写入影响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Microsoft YaHei"/>
                        </a:rPr>
                        <a:t>优化器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475569"/>
                          </a:solidFill>
                          <a:latin typeface="Microsoft YaHei"/>
                        </a:rPr>
                        <a:t>行存串行、行存并行、IMCI 三路径成本选择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475569"/>
                          </a:solidFill>
                          <a:latin typeface="Microsoft YaHei"/>
                        </a:rPr>
                        <a:t>数据库内核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475569"/>
                          </a:solidFill>
                          <a:latin typeface="Microsoft YaHei"/>
                        </a:rPr>
                        <a:t>同时支持 TP 与 AP，查询自动路由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Microsoft YaHei"/>
                        </a:rPr>
                        <a:t>PolarDB for AI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475569"/>
                          </a:solidFill>
                          <a:latin typeface="Microsoft YaHei"/>
                        </a:rPr>
                        <a:t>SQL MLOps、NL2SQL、模型训练/推理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475569"/>
                          </a:solidFill>
                          <a:latin typeface="Microsoft YaHei"/>
                        </a:rPr>
                        <a:t>专属 AI Node 或 Serverless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475569"/>
                          </a:solidFill>
                          <a:latin typeface="Microsoft YaHei"/>
                        </a:rPr>
                        <a:t>隔离 GPU/AI 负载，支持弹性与独立计费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754380">
                <a:tc>
                  <a:txBody>
                    <a:bodyPr/>
                    <a:lstStyle/>
                    <a:p>
                      <a:pPr algn="l"/>
                      <a:r>
                        <a:rPr sz="1000" b="1">
                          <a:solidFill>
                            <a:srgbClr val="0F172A"/>
                          </a:solidFill>
                          <a:latin typeface="Microsoft YaHei"/>
                        </a:rPr>
                        <a:t>Data-Agent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475569"/>
                          </a:solidFill>
                          <a:latin typeface="Microsoft YaHei"/>
                        </a:rPr>
                        <a:t>NL2SQL、NL2Chart、Summary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475569"/>
                          </a:solidFill>
                          <a:latin typeface="Microsoft YaHei"/>
                        </a:rPr>
                        <a:t>AI 服务/控制面入口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475569"/>
                          </a:solidFill>
                          <a:latin typeface="Microsoft YaHei"/>
                        </a:rPr>
                        <a:t>让业务用户直接分析既有数据库数据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5897880"/>
            <a:ext cx="1088136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EA580C"/>
                </a:solidFill>
                <a:latin typeface="Microsoft YaHei"/>
              </a:rPr>
              <a:t>准确表述：PolarDB AI 节点是官方独立节点或 Serverless 资源，不能笼统称为“同机 Sidecar”。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9784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</a:rPr>
              <a:t>来源：[P1]-[P6]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Microsoft YaHei"/>
              </a:rPr>
              <a:t>PolarDB 官方客户：雅迪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881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</a:rPr>
              <a:t>DMS + PolarDB for AI 将自然语言分析带到销售数据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74320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PolarDB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DB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40080" y="1234440"/>
            <a:ext cx="3474720" cy="1325880"/>
          </a:xfrm>
          <a:prstGeom prst="roundRect">
            <a:avLst/>
          </a:prstGeom>
          <a:solidFill>
            <a:srgbClr val="EFF6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1">
                <a:solidFill>
                  <a:srgbClr val="2563EB"/>
                </a:solidFill>
                <a:latin typeface="Microsoft YaHei"/>
              </a:rPr>
              <a:t>既有数据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475569"/>
                </a:solidFill>
                <a:latin typeface="Microsoft YaHei"/>
              </a:rPr>
              <a:t>批发、销售、库存、采购、供应链与营销数据保留在 PolarDB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234440"/>
            <a:ext cx="3474720" cy="1325880"/>
          </a:xfrm>
          <a:prstGeom prst="roundRect">
            <a:avLst/>
          </a:prstGeom>
          <a:solidFill>
            <a:srgbClr val="F0FDF4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1">
                <a:solidFill>
                  <a:srgbClr val="16A34A"/>
                </a:solidFill>
                <a:latin typeface="Microsoft YaHei"/>
              </a:rPr>
              <a:t>能力组合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475569"/>
                </a:solidFill>
                <a:latin typeface="Microsoft YaHei"/>
              </a:rPr>
              <a:t>DMS + PolarDB for AI
NL2SQL + RAG + 表格/图表/文字解读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01583" y="1234440"/>
            <a:ext cx="3474720" cy="1325880"/>
          </a:xfrm>
          <a:prstGeom prst="roundRect">
            <a:avLst/>
          </a:prstGeom>
          <a:solidFill>
            <a:srgbClr val="FFF7ED"/>
          </a:solidFill>
          <a:ln w="1778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1">
                <a:solidFill>
                  <a:srgbClr val="EA580C"/>
                </a:solidFill>
                <a:latin typeface="Microsoft YaHei"/>
              </a:rPr>
              <a:t>业务入口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475569"/>
                </a:solidFill>
                <a:latin typeface="Microsoft YaHei"/>
              </a:rPr>
              <a:t>雅迪云销通 App
销售人员以口语提问直接获取经营分析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4114800" y="1874519"/>
            <a:ext cx="256032" cy="0"/>
          </a:xfrm>
          <a:prstGeom prst="line">
            <a:avLst/>
          </a:prstGeom>
          <a:ln w="25400">
            <a:solidFill>
              <a:srgbClr val="2563EB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845552" y="1874519"/>
            <a:ext cx="256031" cy="0"/>
          </a:xfrm>
          <a:prstGeom prst="line">
            <a:avLst/>
          </a:prstGeom>
          <a:ln w="25400">
            <a:solidFill>
              <a:srgbClr val="2563EB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3063240"/>
            <a:ext cx="10698480" cy="5029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2000" b="1">
                <a:solidFill>
                  <a:srgbClr val="0F172A"/>
                </a:solidFill>
                <a:latin typeface="Microsoft YaHei"/>
              </a:rPr>
              <a:t>官方披露结果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3657600"/>
            <a:ext cx="3063240" cy="1325880"/>
          </a:xfrm>
          <a:prstGeom prst="roundRect">
            <a:avLst/>
          </a:prstGeom>
          <a:solidFill>
            <a:srgbClr val="EFF6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600" b="1">
                <a:solidFill>
                  <a:srgbClr val="2563EB"/>
                </a:solidFill>
                <a:latin typeface="Microsoft YaHei"/>
              </a:rPr>
              <a:t>10 万+</a:t>
            </a:r>
          </a:p>
          <a:p>
            <a:pPr algn="ctr">
              <a:spcBef>
                <a:spcPts val="400"/>
              </a:spcBef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销售与经销商人员使用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53712" y="3657600"/>
            <a:ext cx="3063240" cy="1325880"/>
          </a:xfrm>
          <a:prstGeom prst="roundRect">
            <a:avLst/>
          </a:prstGeom>
          <a:solidFill>
            <a:srgbClr val="F0FDF4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600" b="1">
                <a:solidFill>
                  <a:srgbClr val="16A34A"/>
                </a:solidFill>
                <a:latin typeface="Microsoft YaHei"/>
              </a:rPr>
              <a:t>90%+</a:t>
            </a:r>
          </a:p>
          <a:p>
            <a:pPr algn="ctr">
              <a:spcBef>
                <a:spcPts val="400"/>
              </a:spcBef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NL2SQL 查询准确率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93024" y="3657600"/>
            <a:ext cx="3063240" cy="1325880"/>
          </a:xfrm>
          <a:prstGeom prst="roundRect">
            <a:avLst/>
          </a:prstGeom>
          <a:solidFill>
            <a:srgbClr val="FFF7ED"/>
          </a:solidFill>
          <a:ln w="1778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600" b="1">
                <a:solidFill>
                  <a:srgbClr val="EA580C"/>
                </a:solidFill>
                <a:latin typeface="Microsoft YaHei"/>
              </a:rPr>
              <a:t>实时</a:t>
            </a:r>
          </a:p>
          <a:p>
            <a:pPr algn="ctr">
              <a:spcBef>
                <a:spcPts val="400"/>
              </a:spcBef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获取全域业务数据分析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9784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</a:rPr>
              <a:t>来源：[P8]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Microsoft YaHei"/>
              </a:rPr>
              <a:t>OceanBase：数据库多模能力 + 外部湖接入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881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</a:rPr>
              <a:t>区分已发布能力与 Lakebase 产品路线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74320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OceanBase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DB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4070712" y="1948630"/>
            <a:ext cx="609873" cy="0"/>
          </a:xfrm>
          <a:prstGeom prst="line">
            <a:avLst/>
          </a:prstGeom>
          <a:ln w="12700">
            <a:solidFill>
              <a:srgbClr val="475569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735568" y="1802326"/>
            <a:ext cx="12801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475569"/>
                </a:solidFill>
                <a:latin typeface="Microsoft YaHei"/>
              </a:rPr>
              <a:t>同 SQL 执行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729945" y="1948630"/>
            <a:ext cx="609872" cy="0"/>
          </a:xfrm>
          <a:prstGeom prst="line">
            <a:avLst/>
          </a:prstGeom>
          <a:ln w="12700">
            <a:solidFill>
              <a:srgbClr val="475569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394801" y="1802326"/>
            <a:ext cx="12801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475569"/>
                </a:solidFill>
                <a:latin typeface="Microsoft YaHei"/>
              </a:rPr>
              <a:t>调用已注册模型 endpoint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4070712" y="3644695"/>
            <a:ext cx="609873" cy="0"/>
          </a:xfrm>
          <a:prstGeom prst="line">
            <a:avLst/>
          </a:prstGeom>
          <a:ln w="12700">
            <a:solidFill>
              <a:srgbClr val="475569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3735568" y="3498391"/>
            <a:ext cx="12801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475569"/>
                </a:solidFill>
                <a:latin typeface="Microsoft YaHei"/>
              </a:rPr>
              <a:t>提供 schema/snapshot/manifest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729945" y="3644695"/>
            <a:ext cx="609872" cy="0"/>
          </a:xfrm>
          <a:prstGeom prst="line">
            <a:avLst/>
          </a:prstGeom>
          <a:ln w="12700">
            <a:solidFill>
              <a:srgbClr val="475569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94801" y="3498391"/>
            <a:ext cx="12801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475569"/>
                </a:solidFill>
                <a:latin typeface="Microsoft YaHei"/>
              </a:rPr>
              <a:t>按元数据读取数据文件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46032" y="2372646"/>
            <a:ext cx="3659233" cy="848033"/>
          </a:xfrm>
          <a:prstGeom prst="line">
            <a:avLst/>
          </a:prstGeom>
          <a:ln w="12700">
            <a:solidFill>
              <a:srgbClr val="475569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3735568" y="2650358"/>
            <a:ext cx="12801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475569"/>
                </a:solidFill>
                <a:latin typeface="Microsoft YaHei"/>
              </a:rPr>
              <a:t>联邦/外部表查询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2546032" y="3220679"/>
            <a:ext cx="7216820" cy="2501695"/>
          </a:xfrm>
          <a:prstGeom prst="line">
            <a:avLst/>
          </a:prstGeom>
          <a:ln w="12700">
            <a:solidFill>
              <a:srgbClr val="475569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5514362" y="4325222"/>
            <a:ext cx="12801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475569"/>
                </a:solidFill>
                <a:latin typeface="Microsoft YaHei"/>
              </a:rPr>
              <a:t>开放格式访问</a:t>
            </a:r>
          </a:p>
        </p:txBody>
      </p:sp>
      <p:cxnSp>
        <p:nvCxnSpPr>
          <p:cNvPr id="18" name="Connector 17"/>
          <p:cNvCxnSpPr/>
          <p:nvPr/>
        </p:nvCxnSpPr>
        <p:spPr>
          <a:xfrm flipH="1" flipV="1">
            <a:off x="2546032" y="1524614"/>
            <a:ext cx="3659233" cy="4197760"/>
          </a:xfrm>
          <a:prstGeom prst="line">
            <a:avLst/>
          </a:prstGeom>
          <a:ln w="12700">
            <a:solidFill>
              <a:srgbClr val="475569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735568" y="3477190"/>
            <a:ext cx="12801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475569"/>
                </a:solidFill>
                <a:latin typeface="Microsoft YaHei"/>
              </a:rPr>
              <a:t>数据库克隆与隔离控制</a:t>
            </a:r>
          </a:p>
        </p:txBody>
      </p:sp>
      <p:cxnSp>
        <p:nvCxnSpPr>
          <p:cNvPr id="20" name="Connector 19"/>
          <p:cNvCxnSpPr/>
          <p:nvPr/>
        </p:nvCxnSpPr>
        <p:spPr>
          <a:xfrm flipH="1" flipV="1">
            <a:off x="2546032" y="1524614"/>
            <a:ext cx="7216820" cy="4197760"/>
          </a:xfrm>
          <a:prstGeom prst="line">
            <a:avLst/>
          </a:prstGeom>
          <a:ln w="12700">
            <a:solidFill>
              <a:srgbClr val="475569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514362" y="3477190"/>
            <a:ext cx="12801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475569"/>
                </a:solidFill>
                <a:latin typeface="Microsoft YaHei"/>
              </a:rPr>
              <a:t>结构化查询/混合检索</a:t>
            </a:r>
          </a:p>
        </p:txBody>
      </p:sp>
      <p:cxnSp>
        <p:nvCxnSpPr>
          <p:cNvPr id="22" name="Connector 21"/>
          <p:cNvCxnSpPr/>
          <p:nvPr/>
        </p:nvCxnSpPr>
        <p:spPr>
          <a:xfrm flipH="1" flipV="1">
            <a:off x="6205265" y="1524614"/>
            <a:ext cx="3557587" cy="4197760"/>
          </a:xfrm>
          <a:prstGeom prst="line">
            <a:avLst/>
          </a:prstGeom>
          <a:ln w="12700">
            <a:solidFill>
              <a:srgbClr val="475569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343979" y="3477190"/>
            <a:ext cx="12801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475569"/>
                </a:solidFill>
                <a:latin typeface="Microsoft YaHei"/>
              </a:rPr>
              <a:t>Embedding/生成/Rerank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1352" y="1524614"/>
            <a:ext cx="3049360" cy="848032"/>
          </a:xfrm>
          <a:prstGeom prst="roundRect">
            <a:avLst/>
          </a:prstGeom>
          <a:solidFill>
            <a:srgbClr val="DBEAFE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004" bIns="32004"/>
          <a:lstStyle/>
          <a:p>
            <a:pPr algn="ctr"/>
            <a:r>
              <a:rPr sz="650" b="1">
                <a:solidFill>
                  <a:srgbClr val="2563EB"/>
                </a:solidFill>
                <a:latin typeface="Microsoft YaHei"/>
              </a:rPr>
              <a:t>数据库内核/数据库节点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563EB"/>
                </a:solidFill>
                <a:latin typeface="Microsoft YaHei"/>
              </a:rPr>
              <a:t>OceanBase SQL / 事务 / HTAP 内核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关系、JSON、全文、向量与混合搜索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语义索引自动把 VARCHAR 转向量并建索引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[B1][B2]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680585" y="1524614"/>
            <a:ext cx="3049360" cy="848032"/>
          </a:xfrm>
          <a:prstGeom prst="roundRect">
            <a:avLst/>
          </a:prstGeom>
          <a:solidFill>
            <a:srgbClr val="DBEAFE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004" bIns="32004"/>
          <a:lstStyle/>
          <a:p>
            <a:pPr algn="ctr"/>
            <a:r>
              <a:rPr sz="650" b="1">
                <a:solidFill>
                  <a:srgbClr val="2563EB"/>
                </a:solidFill>
                <a:latin typeface="Microsoft YaHei"/>
              </a:rPr>
              <a:t>数据库内核/数据库节点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563EB"/>
                </a:solidFill>
                <a:latin typeface="Microsoft YaHei"/>
              </a:rPr>
              <a:t>AI 函数服务（SQL 表达式）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AI_SPLIT_DOCUMENT / AI_EMBED /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AI_COMPLETE / AI_RERANK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[B2]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339817" y="1524614"/>
            <a:ext cx="2846070" cy="848032"/>
          </a:xfrm>
          <a:prstGeom prst="roundRect">
            <a:avLst/>
          </a:prstGeom>
          <a:solidFill>
            <a:srgbClr val="FFEDD5"/>
          </a:solidFill>
          <a:ln w="1778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004" bIns="32004"/>
          <a:lstStyle/>
          <a:p>
            <a:pPr algn="ctr"/>
            <a:r>
              <a:rPr sz="650" b="1">
                <a:solidFill>
                  <a:srgbClr val="EA580C"/>
                </a:solidFill>
                <a:latin typeface="Microsoft YaHei"/>
              </a:rPr>
              <a:t>独立计算或托管服务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EA580C"/>
                </a:solidFill>
                <a:latin typeface="Microsoft YaHei"/>
              </a:rPr>
              <a:t>第三方模型服务端点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通过 DBMS_AI_SERVICE 注册模型和 endpoint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需 API Key；具体模型服务在数据库外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[B2][B3]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1352" y="3220679"/>
            <a:ext cx="3049360" cy="848032"/>
          </a:xfrm>
          <a:prstGeom prst="roundRect">
            <a:avLst/>
          </a:prstGeom>
          <a:solidFill>
            <a:srgbClr val="DCFCE7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004" bIns="32004"/>
          <a:lstStyle/>
          <a:p>
            <a:pPr algn="ctr"/>
            <a:r>
              <a:rPr sz="650" b="1">
                <a:solidFill>
                  <a:srgbClr val="16A34A"/>
                </a:solidFill>
                <a:latin typeface="Microsoft YaHei"/>
              </a:rPr>
              <a:t>管控面/托管控制服务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6A34A"/>
                </a:solidFill>
                <a:latin typeface="Microsoft YaHei"/>
              </a:rPr>
              <a:t>External Catalog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HMS / Iceberg REST / FILESYSTEM / ODPS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读取表定义、snapshot、manifest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[B4][B5]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680585" y="3220679"/>
            <a:ext cx="3049360" cy="848032"/>
          </a:xfrm>
          <a:prstGeom prst="roundRect">
            <a:avLst/>
          </a:prstGeom>
          <a:solidFill>
            <a:srgbClr val="DBEAFE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004" bIns="32004"/>
          <a:lstStyle/>
          <a:p>
            <a:pPr algn="ctr"/>
            <a:r>
              <a:rPr sz="650" b="1">
                <a:solidFill>
                  <a:srgbClr val="2563EB"/>
                </a:solidFill>
                <a:latin typeface="Microsoft YaHei"/>
              </a:rPr>
              <a:t>数据库内核/数据库节点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563EB"/>
                </a:solidFill>
                <a:latin typeface="Microsoft YaHei"/>
              </a:rPr>
              <a:t>OceanBase 外部表/目录访问层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解析 Parquet/ORC/CSV 与 Iceberg 元数据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纳入 OceanBase SQL 查询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[B4][B5]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339817" y="3220679"/>
            <a:ext cx="2846070" cy="848032"/>
          </a:xfrm>
          <a:prstGeom prst="roundRect">
            <a:avLst/>
          </a:prstGeom>
          <a:solidFill>
            <a:srgbClr val="F1F5F9"/>
          </a:solidFill>
          <a:ln w="1778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004" bIns="32004"/>
          <a:lstStyle/>
          <a:p>
            <a:pPr algn="ctr"/>
            <a:r>
              <a:rPr sz="650" b="1">
                <a:solidFill>
                  <a:srgbClr val="64748B"/>
                </a:solidFill>
                <a:latin typeface="Microsoft YaHei"/>
              </a:rPr>
              <a:t>存储/Catalog/开放格式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Microsoft YaHei"/>
              </a:rPr>
              <a:t>外部湖存储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OSS / S3 / HDFS + Parquet/Iceberg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当前文档：External Catalog 以只读为主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[B4][B5]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1352" y="4916743"/>
            <a:ext cx="3049360" cy="805630"/>
          </a:xfrm>
          <a:prstGeom prst="roundRect">
            <a:avLst/>
          </a:prstGeom>
          <a:solidFill>
            <a:srgbClr val="FFEDD5"/>
          </a:solidFill>
          <a:ln w="1778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004" bIns="32004"/>
          <a:lstStyle/>
          <a:p>
            <a:pPr algn="ctr"/>
            <a:r>
              <a:rPr sz="650" b="1">
                <a:solidFill>
                  <a:srgbClr val="EA580C"/>
                </a:solidFill>
                <a:latin typeface="Microsoft YaHei"/>
              </a:rPr>
              <a:t>独立计算或托管服务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EA580C"/>
                </a:solidFill>
                <a:latin typeface="Microsoft YaHei"/>
              </a:rPr>
              <a:t>开放计算引擎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Spark / Ray（官方产品路线）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通过开放格式/Catalog 或连接器协作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[B1][B6]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680585" y="4916743"/>
            <a:ext cx="3049360" cy="805630"/>
          </a:xfrm>
          <a:prstGeom prst="roundRect">
            <a:avLst/>
          </a:prstGeom>
          <a:solidFill>
            <a:srgbClr val="DCFCE7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004" bIns="32004"/>
          <a:lstStyle/>
          <a:p>
            <a:pPr algn="ctr"/>
            <a:r>
              <a:rPr sz="650" b="1">
                <a:solidFill>
                  <a:srgbClr val="16A34A"/>
                </a:solidFill>
                <a:latin typeface="Microsoft YaHei"/>
              </a:rPr>
              <a:t>管控面/托管控制服务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6A34A"/>
                </a:solidFill>
                <a:latin typeface="Microsoft YaHei"/>
              </a:rPr>
              <a:t>Fork Database / Agent 沙箱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官方方案页声明：克隆、隔离、Diff/回滚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内部进程与实现细节未公开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[B1]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339817" y="4916743"/>
            <a:ext cx="2846070" cy="805630"/>
          </a:xfrm>
          <a:prstGeom prst="roundRect">
            <a:avLst/>
          </a:prstGeom>
          <a:solidFill>
            <a:srgbClr val="DCFCE7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004" bIns="32004"/>
          <a:lstStyle/>
          <a:p>
            <a:pPr algn="ctr"/>
            <a:r>
              <a:rPr sz="650" b="1">
                <a:solidFill>
                  <a:srgbClr val="16A34A"/>
                </a:solidFill>
                <a:latin typeface="Microsoft YaHei"/>
              </a:rPr>
              <a:t>管控面/托管控制服务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6A34A"/>
                </a:solidFill>
                <a:latin typeface="Microsoft YaHei"/>
              </a:rPr>
              <a:t>上下文/应用层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PowerMem / DataPilot / Agent 应用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属于产品与服务层，不等同数据库内核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[B1]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6144768"/>
            <a:ext cx="1993392" cy="201168"/>
          </a:xfrm>
          <a:prstGeom prst="roundRect">
            <a:avLst/>
          </a:prstGeom>
          <a:solidFill>
            <a:srgbClr val="DBEAFE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720" b="1">
                <a:solidFill>
                  <a:srgbClr val="2563EB"/>
                </a:solidFill>
                <a:latin typeface="Microsoft YaHei"/>
              </a:rPr>
              <a:t>数据库内核/数据库节点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51760" y="6144768"/>
            <a:ext cx="1993392" cy="201168"/>
          </a:xfrm>
          <a:prstGeom prst="roundRect">
            <a:avLst/>
          </a:prstGeom>
          <a:solidFill>
            <a:srgbClr val="DCFCE7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720" b="1">
                <a:solidFill>
                  <a:srgbClr val="16A34A"/>
                </a:solidFill>
                <a:latin typeface="Microsoft YaHei"/>
              </a:rPr>
              <a:t>管控面/托管控制服务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00600" y="6144768"/>
            <a:ext cx="1993392" cy="201168"/>
          </a:xfrm>
          <a:prstGeom prst="roundRect">
            <a:avLst/>
          </a:prstGeom>
          <a:solidFill>
            <a:srgbClr val="CFFAFE"/>
          </a:solidFill>
          <a:ln w="1778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720" b="1">
                <a:solidFill>
                  <a:srgbClr val="0891B2"/>
                </a:solidFill>
                <a:latin typeface="Microsoft YaHei"/>
              </a:rPr>
              <a:t>复制/同步/转码路径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49440" y="6144768"/>
            <a:ext cx="1993392" cy="201168"/>
          </a:xfrm>
          <a:prstGeom prst="roundRect">
            <a:avLst/>
          </a:prstGeom>
          <a:solidFill>
            <a:srgbClr val="FFEDD5"/>
          </a:solidFill>
          <a:ln w="1778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720" b="1">
                <a:solidFill>
                  <a:srgbClr val="EA580C"/>
                </a:solidFill>
                <a:latin typeface="Microsoft YaHei"/>
              </a:rPr>
              <a:t>独立计算或托管服务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98280" y="6144768"/>
            <a:ext cx="1993392" cy="201168"/>
          </a:xfrm>
          <a:prstGeom prst="roundRect">
            <a:avLst/>
          </a:prstGeom>
          <a:solidFill>
            <a:srgbClr val="F1F5F9"/>
          </a:solidFill>
          <a:ln w="1778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720" b="1">
                <a:solidFill>
                  <a:srgbClr val="64748B"/>
                </a:solidFill>
                <a:latin typeface="Microsoft YaHei"/>
              </a:rPr>
              <a:t>存储/Catalog/开放格式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10528"/>
            <a:ext cx="9784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</a:rPr>
              <a:t>来源：[B1]-[B7]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Microsoft YaHei"/>
              </a:rPr>
              <a:t>OceanBase：哪些已有文档，哪些仍是产品路线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74320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OceanBase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DB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11480" y="1143000"/>
          <a:ext cx="11384280" cy="4800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325880"/>
                <a:gridCol w="3931920"/>
                <a:gridCol w="4709160"/>
              </a:tblGrid>
              <a:tr h="800100"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Microsoft YaHei"/>
                        </a:rPr>
                        <a:t>能力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Microsoft YaHei"/>
                        </a:rPr>
                        <a:t>证据状态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Microsoft YaHei"/>
                        </a:rPr>
                        <a:t>当前可确认实现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40" b="1">
                          <a:solidFill>
                            <a:srgbClr val="FFFFFF"/>
                          </a:solidFill>
                          <a:latin typeface="Microsoft YaHei"/>
                        </a:rPr>
                        <a:t>不能臆测的部分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sz="940" b="1">
                          <a:solidFill>
                            <a:srgbClr val="0F172A"/>
                          </a:solidFill>
                          <a:latin typeface="Microsoft YaHei"/>
                        </a:rPr>
                        <a:t>AI 函数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Microsoft YaHei"/>
                        </a:rPr>
                        <a:t>官方产品文档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Microsoft YaHei"/>
                        </a:rPr>
                        <a:t>AI_SPLIT_DOCUMENT / EMBED / COMPLETE / RERANK 作为 SQL 表达式；DBMS_AI_SERVICE 注册 endpoint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Microsoft YaHei"/>
                        </a:rPr>
                        <a:t>模型服务内部部署由 endpoint 决定，不能一概标为内核模型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sz="940" b="1">
                          <a:solidFill>
                            <a:srgbClr val="0F172A"/>
                          </a:solidFill>
                          <a:latin typeface="Microsoft YaHei"/>
                        </a:rPr>
                        <a:t>语义索引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Microsoft YaHei"/>
                        </a:rPr>
                        <a:t>官方产品文档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Microsoft YaHei"/>
                        </a:rPr>
                        <a:t>VARCHAR 自动 embedding 并建向量索引；查询可输入原始文本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Microsoft YaHei"/>
                        </a:rPr>
                        <a:t>具体异步队列与事务协议未完整公开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sz="940" b="1">
                          <a:solidFill>
                            <a:srgbClr val="0F172A"/>
                          </a:solidFill>
                          <a:latin typeface="Microsoft YaHei"/>
                        </a:rPr>
                        <a:t>External Catalog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Microsoft YaHei"/>
                        </a:rPr>
                        <a:t>官方产品文档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Microsoft YaHei"/>
                        </a:rPr>
                        <a:t>HMS / REST / FILESYSTEM / ODPS；读取 Iceberg snapshot/manifest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Microsoft YaHei"/>
                        </a:rPr>
                        <a:t>当前以只读为主，不能写成已实现完整双向共享写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sz="940" b="1">
                          <a:solidFill>
                            <a:srgbClr val="0F172A"/>
                          </a:solidFill>
                          <a:latin typeface="Microsoft YaHei"/>
                        </a:rPr>
                        <a:t>Spark 集成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Microsoft YaHei"/>
                        </a:rPr>
                        <a:t>官方最佳实践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Microsoft YaHei"/>
                        </a:rPr>
                        <a:t>Spark Catalog / Connector 映射元数据、并行读写、谓词下推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Microsoft YaHei"/>
                        </a:rPr>
                        <a:t>不等于 Spark 直接读取 OceanBase 内核页格式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800100">
                <a:tc>
                  <a:txBody>
                    <a:bodyPr/>
                    <a:lstStyle/>
                    <a:p>
                      <a:pPr algn="l"/>
                      <a:r>
                        <a:rPr sz="940" b="1">
                          <a:solidFill>
                            <a:srgbClr val="0F172A"/>
                          </a:solidFill>
                          <a:latin typeface="Microsoft YaHei"/>
                        </a:rPr>
                        <a:t>Lakebase/Fork/AI列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Microsoft YaHei"/>
                        </a:rPr>
                        <a:t>官方方案页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Microsoft YaHei"/>
                        </a:rPr>
                        <a:t>S3/Iceberg/统一 Catalog/Spark/Ray、多模表、Fork 等产品目标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40" b="0">
                          <a:solidFill>
                            <a:srgbClr val="475569"/>
                          </a:solidFill>
                          <a:latin typeface="Microsoft YaHei"/>
                        </a:rPr>
                        <a:t>进程拓扑、跨引擎写冲突和事务协议未完全披露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510528"/>
            <a:ext cx="9784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</a:rPr>
              <a:t>来源：[B1]-[B7]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Microsoft YaHei"/>
              </a:rPr>
              <a:t>OceanBase：利用既有数据构造 AI 数据底座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74320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OceanBase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DB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234440"/>
            <a:ext cx="3474720" cy="1280160"/>
          </a:xfrm>
          <a:prstGeom prst="roundRect">
            <a:avLst/>
          </a:prstGeom>
          <a:solidFill>
            <a:srgbClr val="EFF6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1">
                <a:solidFill>
                  <a:srgbClr val="2563EB"/>
                </a:solidFill>
                <a:latin typeface="Microsoft YaHei"/>
              </a:rPr>
              <a:t>数据库内核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475569"/>
                </a:solidFill>
                <a:latin typeface="Microsoft YaHei"/>
              </a:rPr>
              <a:t>事务、HTAP、关系过滤、全文、向量与语义索引
同一 SQL 查询路径 [B1][B7]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234440"/>
            <a:ext cx="3474720" cy="1280160"/>
          </a:xfrm>
          <a:prstGeom prst="roundRect">
            <a:avLst/>
          </a:prstGeom>
          <a:solidFill>
            <a:srgbClr val="FFF7ED"/>
          </a:solidFill>
          <a:ln w="1778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1">
                <a:solidFill>
                  <a:srgbClr val="EA580C"/>
                </a:solidFill>
                <a:latin typeface="Microsoft YaHei"/>
              </a:rPr>
              <a:t>模型服务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475569"/>
                </a:solidFill>
                <a:latin typeface="Microsoft YaHei"/>
              </a:rPr>
              <a:t>AI 函数在 SQL 中；通过 DBMS_AI_SERVICE 注册第三方模型 endpoint [B2][B3]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234440"/>
            <a:ext cx="3474720" cy="1280160"/>
          </a:xfrm>
          <a:prstGeom prst="roundRect">
            <a:avLst/>
          </a:prstGeom>
          <a:solidFill>
            <a:srgbClr val="F8FAFC"/>
          </a:solidFill>
          <a:ln w="1778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1">
                <a:solidFill>
                  <a:srgbClr val="64748B"/>
                </a:solidFill>
                <a:latin typeface="Microsoft YaHei"/>
              </a:rPr>
              <a:t>外部湖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475569"/>
                </a:solidFill>
                <a:latin typeface="Microsoft YaHei"/>
              </a:rPr>
              <a:t>External Catalog 读取 OSS/S3/HDFS 中 Iceberg/Parquet，当前以只读查询为主 [B4][B5]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97280" y="3063240"/>
            <a:ext cx="4800600" cy="1417320"/>
          </a:xfrm>
          <a:prstGeom prst="roundRect">
            <a:avLst/>
          </a:prstGeom>
          <a:solidFill>
            <a:srgbClr val="F0FDF4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1">
                <a:solidFill>
                  <a:srgbClr val="16A34A"/>
                </a:solidFill>
                <a:latin typeface="Microsoft YaHei"/>
              </a:rPr>
              <a:t>产品与控制层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475569"/>
                </a:solidFill>
                <a:latin typeface="Microsoft YaHei"/>
              </a:rPr>
              <a:t>Fork Database、Agent 沙箱、上下文层、PowerMem、DataPilot
官方方案页确认能力方向，但内部拓扑尚未完整披露 [B1]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063240"/>
            <a:ext cx="4800600" cy="1417320"/>
          </a:xfrm>
          <a:prstGeom prst="roundRect">
            <a:avLst/>
          </a:prstGeom>
          <a:solidFill>
            <a:srgbClr val="F0FDF4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500" b="1">
                <a:solidFill>
                  <a:srgbClr val="16A34A"/>
                </a:solidFill>
                <a:latin typeface="Microsoft YaHei"/>
              </a:rPr>
              <a:t>开放计算</a:t>
            </a:r>
          </a:p>
          <a:p>
            <a:pPr algn="ctr">
              <a:spcBef>
                <a:spcPts val="400"/>
              </a:spcBef>
            </a:pPr>
            <a:r>
              <a:rPr sz="1100" b="0">
                <a:solidFill>
                  <a:srgbClr val="475569"/>
                </a:solidFill>
                <a:latin typeface="Microsoft YaHei"/>
              </a:rPr>
              <a:t>Spark Catalog/Connector 已有官方实践；Lakebase 方案页进一步提出 Spark/Ray 对统一数据工作 [B1][B6]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5074920"/>
            <a:ext cx="10698480" cy="68580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F172A"/>
                </a:solidFill>
                <a:latin typeface="Microsoft YaHei"/>
              </a:rPr>
              <a:t>对自研团队的启示：先把可验证的内核向量/全文/HTAP和 External Catalog 做实，再逐步扩展多模表、AI 列与跨引擎写。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9784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</a:rPr>
              <a:t>来源：[B1]-[B7]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Microsoft YaHei"/>
              </a:rPr>
              <a:t>Databricks：Lakebase LTAP + Agent Bricks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881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</a:rPr>
              <a:t>从湖仓向 OLTP 扩展；数据与 Agent 分层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74320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Databricks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DB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3918244" y="1948630"/>
            <a:ext cx="609872" cy="0"/>
          </a:xfrm>
          <a:prstGeom prst="line">
            <a:avLst/>
          </a:prstGeom>
          <a:ln w="12700">
            <a:solidFill>
              <a:srgbClr val="475569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3583100" y="1802326"/>
            <a:ext cx="12801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475569"/>
                </a:solidFill>
                <a:latin typeface="Microsoft YaHei"/>
              </a:rPr>
              <a:t>WAL/页面持久化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577477" y="1948630"/>
            <a:ext cx="609872" cy="0"/>
          </a:xfrm>
          <a:prstGeom prst="line">
            <a:avLst/>
          </a:prstGeom>
          <a:ln w="12700">
            <a:solidFill>
              <a:srgbClr val="475569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7242333" y="1802326"/>
            <a:ext cx="12801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475569"/>
                </a:solidFill>
                <a:latin typeface="Microsoft YaHei"/>
              </a:rPr>
              <a:t>存储物化时转码</a:t>
            </a:r>
          </a:p>
        </p:txBody>
      </p:sp>
      <p:cxnSp>
        <p:nvCxnSpPr>
          <p:cNvPr id="10" name="Connector 9"/>
          <p:cNvCxnSpPr/>
          <p:nvPr/>
        </p:nvCxnSpPr>
        <p:spPr>
          <a:xfrm flipH="1">
            <a:off x="6052797" y="2372646"/>
            <a:ext cx="3633821" cy="890434"/>
          </a:xfrm>
          <a:prstGeom prst="line">
            <a:avLst/>
          </a:prstGeom>
          <a:ln w="12700">
            <a:solidFill>
              <a:srgbClr val="475569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229628" y="2671559"/>
            <a:ext cx="12801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475569"/>
                </a:solidFill>
                <a:latin typeface="Microsoft YaHei"/>
              </a:rPr>
              <a:t>Parquet + Delta/Iceberg</a:t>
            </a:r>
          </a:p>
        </p:txBody>
      </p:sp>
      <p:cxnSp>
        <p:nvCxnSpPr>
          <p:cNvPr id="12" name="Connector 11"/>
          <p:cNvCxnSpPr/>
          <p:nvPr/>
        </p:nvCxnSpPr>
        <p:spPr>
          <a:xfrm flipH="1">
            <a:off x="1021352" y="3687096"/>
            <a:ext cx="6556125" cy="0"/>
          </a:xfrm>
          <a:prstGeom prst="line">
            <a:avLst/>
          </a:prstGeom>
          <a:ln w="12700">
            <a:solidFill>
              <a:srgbClr val="475569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3659334" y="3540792"/>
            <a:ext cx="12801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475569"/>
                </a:solidFill>
                <a:latin typeface="Microsoft YaHei"/>
              </a:rPr>
              <a:t>直接分析单一逻辑副本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021352" y="3687096"/>
            <a:ext cx="10164535" cy="0"/>
          </a:xfrm>
          <a:prstGeom prst="line">
            <a:avLst/>
          </a:prstGeom>
          <a:ln w="12700">
            <a:solidFill>
              <a:srgbClr val="475569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5463539" y="3540792"/>
            <a:ext cx="12801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475569"/>
                </a:solidFill>
                <a:latin typeface="Microsoft YaHei"/>
              </a:rPr>
              <a:t>治理分析访问</a:t>
            </a:r>
          </a:p>
        </p:txBody>
      </p:sp>
      <p:cxnSp>
        <p:nvCxnSpPr>
          <p:cNvPr id="16" name="Connector 15"/>
          <p:cNvCxnSpPr/>
          <p:nvPr/>
        </p:nvCxnSpPr>
        <p:spPr>
          <a:xfrm flipH="1">
            <a:off x="6052797" y="4111112"/>
            <a:ext cx="3633821" cy="890434"/>
          </a:xfrm>
          <a:prstGeom prst="line">
            <a:avLst/>
          </a:prstGeom>
          <a:ln w="12700">
            <a:solidFill>
              <a:srgbClr val="475569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229628" y="4410025"/>
            <a:ext cx="12801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475569"/>
                </a:solidFill>
                <a:latin typeface="Microsoft YaHei"/>
              </a:rPr>
              <a:t>身份/权限/工具治理</a:t>
            </a:r>
          </a:p>
        </p:txBody>
      </p:sp>
      <p:cxnSp>
        <p:nvCxnSpPr>
          <p:cNvPr id="18" name="Connector 17"/>
          <p:cNvCxnSpPr/>
          <p:nvPr/>
        </p:nvCxnSpPr>
        <p:spPr>
          <a:xfrm flipH="1">
            <a:off x="2469798" y="4111112"/>
            <a:ext cx="3582999" cy="890434"/>
          </a:xfrm>
          <a:prstGeom prst="line">
            <a:avLst/>
          </a:prstGeom>
          <a:ln w="12700">
            <a:solidFill>
              <a:srgbClr val="475569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3621217" y="4410025"/>
            <a:ext cx="12801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475569"/>
                </a:solidFill>
                <a:latin typeface="Microsoft YaHei"/>
              </a:rPr>
              <a:t>Delta Sync 派生搜索索引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918244" y="5425562"/>
            <a:ext cx="609872" cy="0"/>
          </a:xfrm>
          <a:prstGeom prst="line">
            <a:avLst/>
          </a:prstGeom>
          <a:ln w="12700">
            <a:solidFill>
              <a:srgbClr val="475569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583100" y="5279258"/>
            <a:ext cx="12801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475569"/>
                </a:solidFill>
                <a:latin typeface="Microsoft YaHei"/>
              </a:rPr>
              <a:t>检索工具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7577477" y="5425562"/>
            <a:ext cx="609872" cy="0"/>
          </a:xfrm>
          <a:prstGeom prst="line">
            <a:avLst/>
          </a:prstGeom>
          <a:ln w="12700">
            <a:solidFill>
              <a:srgbClr val="475569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7242333" y="5279258"/>
            <a:ext cx="128016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650" b="0">
                <a:solidFill>
                  <a:srgbClr val="475569"/>
                </a:solidFill>
                <a:latin typeface="Microsoft YaHei"/>
              </a:rPr>
              <a:t>部署与调用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21352" y="1524614"/>
            <a:ext cx="2896892" cy="848032"/>
          </a:xfrm>
          <a:prstGeom prst="roundRect">
            <a:avLst/>
          </a:prstGeom>
          <a:solidFill>
            <a:srgbClr val="DBEAFE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004" bIns="32004"/>
          <a:lstStyle/>
          <a:p>
            <a:pPr algn="ctr"/>
            <a:r>
              <a:rPr sz="650" b="1">
                <a:solidFill>
                  <a:srgbClr val="2563EB"/>
                </a:solidFill>
                <a:latin typeface="Microsoft YaHei"/>
              </a:rPr>
              <a:t>数据库内核/数据库节点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563EB"/>
                </a:solidFill>
                <a:latin typeface="Microsoft YaHei"/>
              </a:rPr>
              <a:t>Lakebase Postgres Compute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无状态标准 Postgres 计算层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仅持有 shared buffers 与本地缓存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[D1][D2]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28116" y="1524614"/>
            <a:ext cx="3049360" cy="848032"/>
          </a:xfrm>
          <a:prstGeom prst="roundRect">
            <a:avLst/>
          </a:prstGeom>
          <a:solidFill>
            <a:srgbClr val="F1F5F9"/>
          </a:solidFill>
          <a:ln w="1778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004" bIns="32004"/>
          <a:lstStyle/>
          <a:p>
            <a:pPr algn="ctr"/>
            <a:r>
              <a:rPr sz="650" b="1">
                <a:solidFill>
                  <a:srgbClr val="64748B"/>
                </a:solidFill>
                <a:latin typeface="Microsoft YaHei"/>
              </a:rPr>
              <a:t>存储/Catalog/开放格式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Microsoft YaHei"/>
              </a:rPr>
              <a:t>Lakebase Durable Storage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Safekeepers + Pageservers + Cloud Object Storage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提交持久化，计算与存储分离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[D1][D2]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87349" y="1524614"/>
            <a:ext cx="2998538" cy="848032"/>
          </a:xfrm>
          <a:prstGeom prst="roundRect">
            <a:avLst/>
          </a:prstGeom>
          <a:solidFill>
            <a:srgbClr val="CFFAFE"/>
          </a:solidFill>
          <a:ln w="1778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004" bIns="32004"/>
          <a:lstStyle/>
          <a:p>
            <a:pPr algn="ctr"/>
            <a:r>
              <a:rPr sz="650" b="1">
                <a:solidFill>
                  <a:srgbClr val="0891B2"/>
                </a:solidFill>
                <a:latin typeface="Microsoft YaHei"/>
              </a:rPr>
              <a:t>复制/同步/转码路径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0891B2"/>
                </a:solidFill>
                <a:latin typeface="Microsoft YaHei"/>
              </a:rPr>
              <a:t>LTAP Storage Transcoding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行式 Postgres 数据落湖时转为 Parquet 列式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不是外部 CDC/复制管道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[D3]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021352" y="3263080"/>
            <a:ext cx="2896892" cy="848032"/>
          </a:xfrm>
          <a:prstGeom prst="roundRect">
            <a:avLst/>
          </a:prstGeom>
          <a:solidFill>
            <a:srgbClr val="DBEAFE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004" bIns="32004"/>
          <a:lstStyle/>
          <a:p>
            <a:pPr algn="ctr"/>
            <a:r>
              <a:rPr sz="650" b="1">
                <a:solidFill>
                  <a:srgbClr val="2563EB"/>
                </a:solidFill>
                <a:latin typeface="Microsoft YaHei"/>
              </a:rPr>
              <a:t>数据库内核/数据库节点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2563EB"/>
                </a:solidFill>
                <a:latin typeface="Microsoft YaHei"/>
              </a:rPr>
              <a:t>Lakehouse//RT / OLAP Engine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直接查询 live Lakebase 当前状态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与 Postgres 各用专门引擎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[D3]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28116" y="3263080"/>
            <a:ext cx="3049360" cy="848032"/>
          </a:xfrm>
          <a:prstGeom prst="roundRect">
            <a:avLst/>
          </a:prstGeom>
          <a:solidFill>
            <a:srgbClr val="F1F5F9"/>
          </a:solidFill>
          <a:ln w="1778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004" bIns="32004"/>
          <a:lstStyle/>
          <a:p>
            <a:pPr algn="ctr"/>
            <a:r>
              <a:rPr sz="650" b="1">
                <a:solidFill>
                  <a:srgbClr val="64748B"/>
                </a:solidFill>
                <a:latin typeface="Microsoft YaHei"/>
              </a:rPr>
              <a:t>存储/Catalog/开放格式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64748B"/>
                </a:solidFill>
                <a:latin typeface="Microsoft YaHei"/>
              </a:rPr>
              <a:t>单一逻辑副本 / 开放格式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对象存储中的 Parquet，通过 Delta/Iceberg 读取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OLTP 与 OLAP 共用存储基础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[D3]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87349" y="3263080"/>
            <a:ext cx="2998538" cy="848032"/>
          </a:xfrm>
          <a:prstGeom prst="roundRect">
            <a:avLst/>
          </a:prstGeom>
          <a:solidFill>
            <a:srgbClr val="DCFCE7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004" bIns="32004"/>
          <a:lstStyle/>
          <a:p>
            <a:pPr algn="ctr"/>
            <a:r>
              <a:rPr sz="650" b="1">
                <a:solidFill>
                  <a:srgbClr val="16A34A"/>
                </a:solidFill>
                <a:latin typeface="Microsoft YaHei"/>
              </a:rPr>
              <a:t>管控面/托管控制服务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16A34A"/>
                </a:solidFill>
                <a:latin typeface="Microsoft YaHei"/>
              </a:rPr>
              <a:t>Unity Catalog / Unity AI Gateway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权限、血缘、审计；模型/Agent/MCP/工具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统一作为 securable objects 管理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[D4][D5]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21352" y="5001546"/>
            <a:ext cx="2896892" cy="848032"/>
          </a:xfrm>
          <a:prstGeom prst="roundRect">
            <a:avLst/>
          </a:prstGeom>
          <a:solidFill>
            <a:srgbClr val="FFEDD5"/>
          </a:solidFill>
          <a:ln w="1778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004" bIns="32004"/>
          <a:lstStyle/>
          <a:p>
            <a:pPr algn="ctr"/>
            <a:r>
              <a:rPr sz="650" b="1">
                <a:solidFill>
                  <a:srgbClr val="EA580C"/>
                </a:solidFill>
                <a:latin typeface="Microsoft YaHei"/>
              </a:rPr>
              <a:t>独立计算或托管服务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EA580C"/>
                </a:solidFill>
                <a:latin typeface="Microsoft YaHei"/>
              </a:rPr>
              <a:t>Databricks AI Search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独立托管 Serverless 搜索服务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Delta Sync index 自动同步源 Delta Table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[D6]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28116" y="5001546"/>
            <a:ext cx="3049360" cy="848032"/>
          </a:xfrm>
          <a:prstGeom prst="roundRect">
            <a:avLst/>
          </a:prstGeom>
          <a:solidFill>
            <a:srgbClr val="FFEDD5"/>
          </a:solidFill>
          <a:ln w="1778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004" bIns="32004"/>
          <a:lstStyle/>
          <a:p>
            <a:pPr algn="ctr"/>
            <a:r>
              <a:rPr sz="650" b="1">
                <a:solidFill>
                  <a:srgbClr val="EA580C"/>
                </a:solidFill>
                <a:latin typeface="Microsoft YaHei"/>
              </a:rPr>
              <a:t>独立计算或托管服务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EA580C"/>
                </a:solidFill>
                <a:latin typeface="Microsoft YaHei"/>
              </a:rPr>
              <a:t>Agent Bricks / Supervisor Agent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托管 Agent 运行时；协调 Genie、AI Search、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UC Functions、MCP 与自定义 Agent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[D5][D7]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187349" y="5001546"/>
            <a:ext cx="2998538" cy="848032"/>
          </a:xfrm>
          <a:prstGeom prst="roundRect">
            <a:avLst/>
          </a:prstGeom>
          <a:solidFill>
            <a:srgbClr val="FFEDD5"/>
          </a:solidFill>
          <a:ln w="1778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32004" bIns="32004"/>
          <a:lstStyle/>
          <a:p>
            <a:pPr algn="ctr"/>
            <a:r>
              <a:rPr sz="650" b="1">
                <a:solidFill>
                  <a:srgbClr val="EA580C"/>
                </a:solidFill>
                <a:latin typeface="Microsoft YaHei"/>
              </a:rPr>
              <a:t>独立计算或托管服务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>
                <a:solidFill>
                  <a:srgbClr val="EA580C"/>
                </a:solidFill>
                <a:latin typeface="Microsoft YaHei"/>
              </a:rPr>
              <a:t>Databricks Apps / Model Serving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应用与 Agent 服务部署入口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FinThrive 在数小时内上线多 Agent 助手</a:t>
            </a: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680" b="0">
                <a:solidFill>
                  <a:srgbClr val="475569"/>
                </a:solidFill>
                <a:latin typeface="Microsoft YaHei"/>
              </a:rPr>
              <a:t>[D8]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02920" y="6144768"/>
            <a:ext cx="1993392" cy="201168"/>
          </a:xfrm>
          <a:prstGeom prst="roundRect">
            <a:avLst/>
          </a:prstGeom>
          <a:solidFill>
            <a:srgbClr val="DBEAFE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720" b="1">
                <a:solidFill>
                  <a:srgbClr val="2563EB"/>
                </a:solidFill>
                <a:latin typeface="Microsoft YaHei"/>
              </a:rPr>
              <a:t>数据库内核/数据库节点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651760" y="6144768"/>
            <a:ext cx="1993392" cy="201168"/>
          </a:xfrm>
          <a:prstGeom prst="roundRect">
            <a:avLst/>
          </a:prstGeom>
          <a:solidFill>
            <a:srgbClr val="DCFCE7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720" b="1">
                <a:solidFill>
                  <a:srgbClr val="16A34A"/>
                </a:solidFill>
                <a:latin typeface="Microsoft YaHei"/>
              </a:rPr>
              <a:t>管控面/托管控制服务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800600" y="6144768"/>
            <a:ext cx="1993392" cy="201168"/>
          </a:xfrm>
          <a:prstGeom prst="roundRect">
            <a:avLst/>
          </a:prstGeom>
          <a:solidFill>
            <a:srgbClr val="CFFAFE"/>
          </a:solidFill>
          <a:ln w="1778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720" b="1">
                <a:solidFill>
                  <a:srgbClr val="0891B2"/>
                </a:solidFill>
                <a:latin typeface="Microsoft YaHei"/>
              </a:rPr>
              <a:t>复制/同步/转码路径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949440" y="6144768"/>
            <a:ext cx="1993392" cy="201168"/>
          </a:xfrm>
          <a:prstGeom prst="roundRect">
            <a:avLst/>
          </a:prstGeom>
          <a:solidFill>
            <a:srgbClr val="FFEDD5"/>
          </a:solidFill>
          <a:ln w="1778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720" b="1">
                <a:solidFill>
                  <a:srgbClr val="EA580C"/>
                </a:solidFill>
                <a:latin typeface="Microsoft YaHei"/>
              </a:rPr>
              <a:t>独立计算或托管服务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9098280" y="6144768"/>
            <a:ext cx="1993392" cy="201168"/>
          </a:xfrm>
          <a:prstGeom prst="roundRect">
            <a:avLst/>
          </a:prstGeom>
          <a:solidFill>
            <a:srgbClr val="F1F5F9"/>
          </a:solidFill>
          <a:ln w="17780">
            <a:solidFill>
              <a:srgbClr val="6474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720" b="1">
                <a:solidFill>
                  <a:srgbClr val="64748B"/>
                </a:solidFill>
                <a:latin typeface="Microsoft YaHei"/>
              </a:rPr>
              <a:t>存储/Catalog/开放格式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10528"/>
            <a:ext cx="9784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</a:rPr>
              <a:t>来源：[D1]-[D8]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Microsoft YaHei"/>
              </a:rPr>
              <a:t>Databricks：必须区分三条路径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74320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Databricks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DB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234440"/>
            <a:ext cx="3611880" cy="4160520"/>
          </a:xfrm>
          <a:prstGeom prst="roundRect">
            <a:avLst/>
          </a:prstGeom>
          <a:solidFill>
            <a:srgbClr val="EFF6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900" b="1">
                <a:solidFill>
                  <a:srgbClr val="2563EB"/>
                </a:solidFill>
                <a:latin typeface="Microsoft YaHei"/>
              </a:rPr>
              <a:t>① LTAP 数据路径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475569"/>
                </a:solidFill>
                <a:latin typeface="Microsoft YaHei"/>
              </a:rPr>
              <a:t>Lakebase Postgres Compute
↓
Safekeepers / Pageservers / Object Storage
↓
存储物化时转码为 Parquet
↓
Delta / Iceberg
↓
Lakehouse//RT 直接分析
不是外部 CDC/复制管道
[D1][D2][D3]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297680" y="1234440"/>
            <a:ext cx="3611880" cy="4160520"/>
          </a:xfrm>
          <a:prstGeom prst="roundRect">
            <a:avLst/>
          </a:prstGeom>
          <a:solidFill>
            <a:srgbClr val="FFF7ED"/>
          </a:solidFill>
          <a:ln w="1778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900" b="1">
                <a:solidFill>
                  <a:srgbClr val="EA580C"/>
                </a:solidFill>
                <a:latin typeface="Microsoft YaHei"/>
              </a:rPr>
              <a:t>② AI Search 路径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475569"/>
                </a:solidFill>
                <a:latin typeface="Microsoft YaHei"/>
              </a:rPr>
              <a:t>Delta Table
↓
Delta Sync Index
↓
托管 Serverless AI Search
↓
HNSW / BM25 / Hybrid Search
这是派生搜索索引，不等于 LTAP 单一逻辑副本
[D6]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234440"/>
            <a:ext cx="3611880" cy="4160520"/>
          </a:xfrm>
          <a:prstGeom prst="roundRect">
            <a:avLst/>
          </a:prstGeom>
          <a:solidFill>
            <a:srgbClr val="F0FDF4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900" b="1">
                <a:solidFill>
                  <a:srgbClr val="16A34A"/>
                </a:solidFill>
                <a:latin typeface="Microsoft YaHei"/>
              </a:rPr>
              <a:t>③ Agent 路径</a:t>
            </a:r>
          </a:p>
          <a:p>
            <a:pPr algn="ctr">
              <a:spcBef>
                <a:spcPts val="400"/>
              </a:spcBef>
            </a:pPr>
            <a:r>
              <a:rPr sz="1400" b="0">
                <a:solidFill>
                  <a:srgbClr val="475569"/>
                </a:solidFill>
                <a:latin typeface="Microsoft YaHei"/>
              </a:rPr>
              <a:t>Supervisor Agent
↓
Genie / AI Search / UC Functions
MCP / Custom Agents
↓
Databricks Apps / Model Serving
由 Unity Catalog 和 AI Gateway 统一治理
[D4][D5][D7]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9784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</a:rPr>
              <a:t>来源：[D1]-[D7]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Microsoft YaHei"/>
              </a:rPr>
              <a:t>Databricks 官方客户：FinThrive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881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</a:rPr>
              <a:t>在既有平台、Notebook、代码和文档上快速构建 Agent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74320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Databricks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DB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34440"/>
            <a:ext cx="5166360" cy="42976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t>• 既有资产：数百个 Databricks Notebooks、遗留数据管道、Wiki 与内部文档</a:t>
            </a:r>
          </a:p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t>• Unity Catalog：将 Notebook、代码库和文档以受治理资产暴露</a:t>
            </a:r>
          </a:p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t>• Agent Bricks：分别构建 Databricks 代码、Azure Data Factory 和内部文档 Agent</a:t>
            </a:r>
          </a:p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t>• Supervisor：把多个 Agent 的答案统一编排</a:t>
            </a:r>
          </a:p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t>• Databricks App：向员工提供聊天界面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325880"/>
            <a:ext cx="4663440" cy="2834640"/>
          </a:xfrm>
          <a:prstGeom prst="roundRect">
            <a:avLst/>
          </a:prstGeom>
          <a:solidFill>
            <a:srgbClr val="EFF6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2200" b="1">
                <a:solidFill>
                  <a:srgbClr val="2563EB"/>
                </a:solidFill>
                <a:latin typeface="Microsoft YaHei"/>
              </a:rPr>
              <a:t>官方案例结果</a:t>
            </a:r>
          </a:p>
          <a:p>
            <a:pPr algn="ctr">
              <a:spcBef>
                <a:spcPts val="400"/>
              </a:spcBef>
            </a:pPr>
            <a:r>
              <a:rPr sz="1600" b="0">
                <a:solidFill>
                  <a:srgbClr val="475569"/>
                </a:solidFill>
                <a:latin typeface="Microsoft YaHei"/>
              </a:rPr>
              <a:t>“Within a few hours”
数小时内上线可查询数据管道的助手
员工能够以自然语言获得带引用的代码与管道答案
来源：[D8]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4572000"/>
            <a:ext cx="4480560" cy="8229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600" b="1">
                <a:solidFill>
                  <a:srgbClr val="16A34A"/>
                </a:solidFill>
                <a:latin typeface="Microsoft YaHei"/>
              </a:rPr>
              <a:t>关键价值：不是先迁移数据，
而是在既有 Databricks 数据和治理基础上增加 Agent。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9784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</a:rPr>
              <a:t>来源：[D8]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Microsoft YaHei"/>
              </a:rPr>
              <a:t>自研数据库：组件落点与研发边界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881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</a:rPr>
              <a:t>以数据库为核心，但不把所有 AI 逻辑塞进事务进程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74320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DB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11480" y="1143000"/>
          <a:ext cx="11384280" cy="5074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965960"/>
                <a:gridCol w="4572000"/>
                <a:gridCol w="3017520"/>
              </a:tblGrid>
              <a:tr h="724988"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Microsoft YaHei"/>
                        </a:rPr>
                        <a:t>目标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Microsoft YaHei"/>
                        </a:rPr>
                        <a:t>建议落点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Microsoft YaHei"/>
                        </a:rPr>
                        <a:t>研发工作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80" b="1">
                          <a:solidFill>
                            <a:srgbClr val="FFFFFF"/>
                          </a:solidFill>
                          <a:latin typeface="Microsoft YaHei"/>
                        </a:rPr>
                        <a:t>参考实现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724988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0F172A"/>
                          </a:solidFill>
                          <a:latin typeface="Microsoft YaHei"/>
                        </a:rPr>
                        <a:t>既有 TP 数据直接做 AP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Microsoft YaHei"/>
                        </a:rPr>
                        <a:t>数据库内核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Microsoft YaHei"/>
                        </a:rPr>
                        <a:t>列存格式/列索引、向量化执行器、CBO 行列路径选择、资源隔离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Microsoft YaHei"/>
                        </a:rPr>
                        <a:t>Oracle IMCS / PolarDB IMCI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724988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0F172A"/>
                          </a:solidFill>
                          <a:latin typeface="Microsoft YaHei"/>
                        </a:rPr>
                        <a:t>保持行列实时一致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Microsoft YaHei"/>
                        </a:rPr>
                        <a:t>内核后台进程或复制层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Microsoft YaHei"/>
                        </a:rPr>
                        <a:t>后台填充/重填，或 Redo/物理复制到 RO 列存节点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Microsoft YaHei"/>
                        </a:rPr>
                        <a:t>Oracle / PolarDB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724988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0F172A"/>
                          </a:solidFill>
                          <a:latin typeface="Microsoft YaHei"/>
                        </a:rPr>
                        <a:t>统一业务查询与语义检索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Microsoft YaHei"/>
                        </a:rPr>
                        <a:t>数据库内核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Microsoft YaHei"/>
                        </a:rPr>
                        <a:t>VECTOR 类型、ANN 索引、全文、混合优化器、RLS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Microsoft YaHei"/>
                        </a:rPr>
                        <a:t>Oracle / OceanBase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724988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0F172A"/>
                          </a:solidFill>
                          <a:latin typeface="Microsoft YaHei"/>
                        </a:rPr>
                        <a:t>Embedding / LLM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Microsoft YaHei"/>
                        </a:rPr>
                        <a:t>库内轻量模型 + 独立 AI Node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Microsoft YaHei"/>
                        </a:rPr>
                        <a:t>轻量 ONNX 可库内；GPU/大模型放专属节点或 Serverless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Microsoft YaHei"/>
                        </a:rPr>
                        <a:t>Oracle / PolarDB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  <a:tr h="724988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0F172A"/>
                          </a:solidFill>
                          <a:latin typeface="Microsoft YaHei"/>
                        </a:rPr>
                        <a:t>NL2SQL 与 Agent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Microsoft YaHei"/>
                        </a:rPr>
                        <a:t>托管服务/控制面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Microsoft YaHei"/>
                        </a:rPr>
                        <a:t>Agent 编排、模型路由、评测、Tracing、权限传递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Microsoft YaHei"/>
                        </a:rPr>
                        <a:t>四家厂商</a:t>
                      </a:r>
                    </a:p>
                  </a:txBody>
                  <a:tcPr marL="45720" marR="45720" marT="27432" marB="27432">
                    <a:solidFill>
                      <a:srgbClr val="FFFFFF"/>
                    </a:solidFill>
                  </a:tcPr>
                </a:tc>
              </a:tr>
              <a:tr h="724992">
                <a:tc>
                  <a:txBody>
                    <a:bodyPr/>
                    <a:lstStyle/>
                    <a:p>
                      <a:pPr algn="l"/>
                      <a:r>
                        <a:rPr sz="980" b="1">
                          <a:solidFill>
                            <a:srgbClr val="0F172A"/>
                          </a:solidFill>
                          <a:latin typeface="Microsoft YaHei"/>
                        </a:rPr>
                        <a:t>湖数据接入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Microsoft YaHei"/>
                        </a:rPr>
                        <a:t>Catalog + Connector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Microsoft YaHei"/>
                        </a:rPr>
                        <a:t>Iceberg REST/HMS、Parquet Reader、谓词下推、凭据与权限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980" b="0">
                          <a:solidFill>
                            <a:srgbClr val="475569"/>
                          </a:solidFill>
                          <a:latin typeface="Microsoft YaHei"/>
                        </a:rPr>
                        <a:t>Oracle / OB / Databricks</a:t>
                      </a:r>
                    </a:p>
                  </a:txBody>
                  <a:tcPr marL="45720" marR="45720" marT="27432" marB="2743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02920" y="6510528"/>
            <a:ext cx="9784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</a:rPr>
              <a:t>建议基于官方实现对比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Microsoft YaHei"/>
              </a:rPr>
              <a:t>建议的产品演进路线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881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</a:rPr>
              <a:t>先内核确定性能力，再 AI 服务，再 Agent 与开放湖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74320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建议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DB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57200" y="1417320"/>
            <a:ext cx="2560320" cy="3383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900" b="1">
                <a:solidFill>
                  <a:srgbClr val="2563EB"/>
                </a:solidFill>
                <a:latin typeface="Microsoft YaHei"/>
              </a:rPr>
              <a:t>阶段 1
HTAP 内核</a:t>
            </a:r>
          </a:p>
          <a:p>
            <a:pPr algn="ctr">
              <a:spcBef>
                <a:spcPts val="400"/>
              </a:spcBef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列存格式/索引
向量化执行器
CBO 自动行列选择
TP/AP 资源隔离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035808" y="3063240"/>
            <a:ext cx="237744" cy="0"/>
          </a:xfrm>
          <a:prstGeom prst="line">
            <a:avLst/>
          </a:prstGeom>
          <a:ln w="25400">
            <a:solidFill>
              <a:srgbClr val="475569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3364992" y="1417320"/>
            <a:ext cx="2560320" cy="3383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0891B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900" b="1">
                <a:solidFill>
                  <a:srgbClr val="0891B2"/>
                </a:solidFill>
                <a:latin typeface="Microsoft YaHei"/>
              </a:rPr>
              <a:t>阶段 2
搜索与 AI</a:t>
            </a:r>
          </a:p>
          <a:p>
            <a:pPr algn="ctr">
              <a:spcBef>
                <a:spcPts val="400"/>
              </a:spcBef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VECTOR + ANN
全文 + 向量混合
AI Node / Serverless
SQL 统一入口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5943600" y="3063240"/>
            <a:ext cx="237744" cy="0"/>
          </a:xfrm>
          <a:prstGeom prst="line">
            <a:avLst/>
          </a:prstGeom>
          <a:ln w="25400">
            <a:solidFill>
              <a:srgbClr val="475569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ounded Rectangle 9"/>
          <p:cNvSpPr/>
          <p:nvPr/>
        </p:nvSpPr>
        <p:spPr>
          <a:xfrm>
            <a:off x="6272784" y="1417320"/>
            <a:ext cx="2560320" cy="3383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900" b="1">
                <a:solidFill>
                  <a:srgbClr val="EA580C"/>
                </a:solidFill>
                <a:latin typeface="Microsoft YaHei"/>
              </a:rPr>
              <a:t>阶段 3
语义与 Agent</a:t>
            </a:r>
          </a:p>
          <a:p>
            <a:pPr algn="ctr">
              <a:spcBef>
                <a:spcPts val="400"/>
              </a:spcBef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Semantic View
NL2SQL / Agent Runtime
MCP / Tool Governance
Tracing / Evaluation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851392" y="3063240"/>
            <a:ext cx="237744" cy="0"/>
          </a:xfrm>
          <a:prstGeom prst="line">
            <a:avLst/>
          </a:prstGeom>
          <a:ln w="25400">
            <a:solidFill>
              <a:srgbClr val="475569"/>
            </a:solidFill>
            <a:prstDash val="solid"/>
            <a:head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9180576" y="1417320"/>
            <a:ext cx="2560320" cy="33832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900" b="1">
                <a:solidFill>
                  <a:srgbClr val="16A34A"/>
                </a:solidFill>
                <a:latin typeface="Microsoft YaHei"/>
              </a:rPr>
              <a:t>阶段 4
开放湖库</a:t>
            </a:r>
          </a:p>
          <a:p>
            <a:pPr algn="ctr">
              <a:spcBef>
                <a:spcPts val="400"/>
              </a:spcBef>
            </a:pPr>
            <a:r>
              <a:rPr sz="1500" b="0">
                <a:solidFill>
                  <a:srgbClr val="475569"/>
                </a:solidFill>
                <a:latin typeface="Microsoft YaHei"/>
              </a:rPr>
              <a:t>Iceberg Catalog
Parquet Reader
原位查询与下推
再评估一致写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257800"/>
            <a:ext cx="10698480" cy="5943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0F172A"/>
                </a:solidFill>
                <a:latin typeface="Microsoft YaHei"/>
              </a:rPr>
              <a:t>原则：每一阶段都直接利用当前数据库中的既有数据；避免先建设一套独立大数据平台再回接数据库。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9784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</a:rPr>
              <a:t>官方资料编号见末页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Microsoft YaHei"/>
              </a:rPr>
              <a:t>目标客户与解决方案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698480" y="274320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商业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DB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94360" y="1188720"/>
            <a:ext cx="3474720" cy="1828800"/>
          </a:xfrm>
          <a:prstGeom prst="roundRect">
            <a:avLst/>
          </a:prstGeom>
          <a:solidFill>
            <a:srgbClr val="EFF6FF"/>
          </a:solidFill>
          <a:ln w="17780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800" b="1">
                <a:solidFill>
                  <a:srgbClr val="2563EB"/>
                </a:solidFill>
                <a:latin typeface="Microsoft YaHei"/>
              </a:rPr>
              <a:t>金融 / 政企 / 运营商</a:t>
            </a:r>
          </a:p>
          <a:p>
            <a:pPr algn="ctr">
              <a:spcBef>
                <a:spcPts val="400"/>
              </a:spcBef>
            </a:pPr>
            <a:r>
              <a:rPr sz="1300" b="0">
                <a:solidFill>
                  <a:srgbClr val="475569"/>
                </a:solidFill>
                <a:latin typeface="Microsoft YaHei"/>
              </a:rPr>
              <a:t>核心诉求
数据不出域、强一致、审计、实时风控
产品组合
TP + 实时 AP + 向量/全文 + AI Node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43400" y="1188720"/>
            <a:ext cx="3474720" cy="1828800"/>
          </a:xfrm>
          <a:prstGeom prst="roundRect">
            <a:avLst/>
          </a:prstGeom>
          <a:solidFill>
            <a:srgbClr val="F0FDF4"/>
          </a:solidFill>
          <a:ln w="17780">
            <a:solidFill>
              <a:srgbClr val="16A3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800" b="1">
                <a:solidFill>
                  <a:srgbClr val="16A34A"/>
                </a:solidFill>
                <a:latin typeface="Microsoft YaHei"/>
              </a:rPr>
              <a:t>零售 / 制造 / 物流</a:t>
            </a:r>
          </a:p>
          <a:p>
            <a:pPr algn="ctr">
              <a:spcBef>
                <a:spcPts val="400"/>
              </a:spcBef>
            </a:pPr>
            <a:r>
              <a:rPr sz="1300" b="0">
                <a:solidFill>
                  <a:srgbClr val="475569"/>
                </a:solidFill>
                <a:latin typeface="Microsoft YaHei"/>
              </a:rPr>
              <a:t>核心诉求
实时经营分析、自然语言问数、知识助手
产品组合
IMCI/列存 + Data-Agent + RAG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92440" y="1188720"/>
            <a:ext cx="3474720" cy="1828800"/>
          </a:xfrm>
          <a:prstGeom prst="roundRect">
            <a:avLst/>
          </a:prstGeom>
          <a:solidFill>
            <a:srgbClr val="FFF7ED"/>
          </a:solidFill>
          <a:ln w="17780">
            <a:solidFill>
              <a:srgbClr val="EA580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73152" bIns="73152"/>
          <a:lstStyle/>
          <a:p>
            <a:pPr algn="ctr"/>
            <a:r>
              <a:rPr sz="1800" b="1">
                <a:solidFill>
                  <a:srgbClr val="EA580C"/>
                </a:solidFill>
                <a:latin typeface="Microsoft YaHei"/>
              </a:rPr>
              <a:t>互联网 / AI SaaS</a:t>
            </a:r>
          </a:p>
          <a:p>
            <a:pPr algn="ctr">
              <a:spcBef>
                <a:spcPts val="400"/>
              </a:spcBef>
            </a:pPr>
            <a:r>
              <a:rPr sz="1300" b="0">
                <a:solidFill>
                  <a:srgbClr val="475569"/>
                </a:solidFill>
                <a:latin typeface="Microsoft YaHei"/>
              </a:rPr>
              <a:t>核心诉求
搜索推荐、Agent 状态、低成本弹性
产品组合
混合搜索 + 分支沙箱 + Serverless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520440"/>
            <a:ext cx="106984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0F172A"/>
                </a:solidFill>
                <a:latin typeface="Microsoft YaHei"/>
              </a:rPr>
              <a:t>客户购买的不是“AI 函数”，而是更短的数据链路与更低的一致性、运维和治理成本。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4160520"/>
            <a:ext cx="10149840" cy="1371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t>• 替代或减少：业务库 → Kafka/CDC → 数仓 → 搜索/向量库 → Agent 的多套同步链路</a:t>
            </a:r>
          </a:p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t>• 保留优势：现有 SQL、事务、权限、数据模型和客户业务连续性</a:t>
            </a:r>
          </a:p>
          <a:p>
            <a:pPr>
              <a:spcAft>
                <a:spcPts val="500"/>
              </a:spcAft>
              <a:defRPr sz="1500">
                <a:solidFill>
                  <a:srgbClr val="0F172A"/>
                </a:solidFill>
                <a:latin typeface="Microsoft YaHei"/>
              </a:defRPr>
            </a:pPr>
            <a:r>
              <a:t>• 新增价值：实时分析、语义搜索、自然语言问数和可治理 Agent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9784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</a:rPr>
              <a:t>官方资料编号见末页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Microsoft YaHei"/>
              </a:rPr>
              <a:t>Oracle 官方资料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881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</a:rPr>
              <a:t>所有 URL 均为厂商官方文档、官方产品页、官方博客或官方客户案例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74320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参考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DB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[O0]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188720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Microsoft YaHei"/>
                <a:hlinkClick r:id="rId2"/>
              </a:rPr>
              <a:t>Oracle 26ai replaces 23ai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188720"/>
            <a:ext cx="61722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Microsoft YaHei"/>
              </a:rPr>
              <a:t>https://www.oracle.com/database/ai-native-database-26ai/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[O1]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719072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Microsoft YaHei"/>
                <a:hlinkClick r:id="rId3"/>
              </a:rPr>
              <a:t>Oracle 26ai Technical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1719072"/>
            <a:ext cx="61722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Microsoft YaHei"/>
              </a:rPr>
              <a:t>https://docs.oracle.com/en/database/oracle/oracle-database/26/dbiad/all_diagrams.html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49424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[O2]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249424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Microsoft YaHei"/>
                <a:hlinkClick r:id="rId4"/>
              </a:rPr>
              <a:t>Oracle In-Memory Area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249424"/>
            <a:ext cx="61722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Microsoft YaHei"/>
              </a:rPr>
              <a:t>https://docs.oracle.com/en/database/oracle/oracle-database/26/dbiad/db_inmemoryarea.html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79776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[O3]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779776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Microsoft YaHei"/>
                <a:hlinkClick r:id="rId5"/>
              </a:rPr>
              <a:t>Exadata AI Smart Scan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779776"/>
            <a:ext cx="61722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Microsoft YaHei"/>
              </a:rPr>
              <a:t>https://docs.oracle.com/en/engineered-systems/exadata-database-machine/dbmso/ai-vector-search.html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310128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[O4]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310128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Microsoft YaHei"/>
                <a:hlinkClick r:id="rId6"/>
              </a:rPr>
              <a:t>Oracle Select AI Agent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310128"/>
            <a:ext cx="61722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Microsoft YaHei"/>
              </a:rPr>
              <a:t>https://docs.oracle.com/en/database/oracle/oracle-database/26/selai/select-ai-agent2.html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840480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[O5]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840480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Microsoft YaHei"/>
                <a:hlinkClick r:id="rId7"/>
              </a:rPr>
              <a:t>Autonomous AI Database MCP Server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3840480"/>
            <a:ext cx="61722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Microsoft YaHei"/>
              </a:rPr>
              <a:t>https://docs.oracle.com/en/cloud/paas/autonomous-database/serverless/adbsb/mcp-server.html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370832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[O6]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370832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Microsoft YaHei"/>
                <a:hlinkClick r:id="rId8"/>
              </a:rPr>
              <a:t>Oracle in-database ONNX/vector/agent example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4370832"/>
            <a:ext cx="61722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Microsoft YaHei"/>
              </a:rPr>
              <a:t>https://blogs.oracle.com/database/building-an-autonomous-fraud-detection-pipeline-with-autonomous-ai-database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901184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[O7]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901184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Microsoft YaHei"/>
                <a:hlinkClick r:id="rId9"/>
              </a:rPr>
              <a:t>Oracle Autonomous AI Lakehouse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4901184"/>
            <a:ext cx="61722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Microsoft YaHei"/>
              </a:rPr>
              <a:t>https://www.oracle.com/autonomous-database/autonomous-ai-lakehouse/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431536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[O8]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25880" y="5431536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Microsoft YaHei"/>
                <a:hlinkClick r:id="rId10"/>
              </a:rPr>
              <a:t>Oracle customer: Retraced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257800" y="5431536"/>
            <a:ext cx="61722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Microsoft YaHei"/>
              </a:rPr>
              <a:t>https://www.oracle.com/customers/retraced/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" y="5961888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[O9]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325880" y="5961888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Microsoft YaHei"/>
                <a:hlinkClick r:id="rId11"/>
              </a:rPr>
              <a:t>Oracle customer: Rappi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257800" y="5961888"/>
            <a:ext cx="61722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Microsoft YaHei"/>
              </a:rPr>
              <a:t>https://www.oracle.com/customers/rappi/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6510528"/>
            <a:ext cx="9784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</a:rPr>
              <a:t>点击资料标题可打开官方页面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Microsoft YaHei"/>
              </a:rPr>
              <a:t>PolarDB 官方资料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881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</a:rPr>
              <a:t>所有 URL 均为厂商官方文档、官方产品页、官方博客或官方客户案例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74320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参考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DB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[P1]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188720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Microsoft YaHei"/>
                <a:hlinkClick r:id="rId2"/>
              </a:rPr>
              <a:t>PolarDB IMCI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188720"/>
            <a:ext cx="61722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Microsoft YaHei"/>
              </a:rPr>
              <a:t>https://help.aliyun.com/en/polardb/polardb-for-mysql/user-guide/technical-background-and-architecture-of-column-store-index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[P2]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719072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Microsoft YaHei"/>
                <a:hlinkClick r:id="rId3"/>
              </a:rPr>
              <a:t>PolarDB IMCI technical approach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1719072"/>
            <a:ext cx="61722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Microsoft YaHei"/>
              </a:rPr>
              <a:t>https://help.aliyun.com/en/polardb/polardb-for-mysql/htap-based-real-time-data-analysis-in-polardb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49424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[P3]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249424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Microsoft YaHei"/>
                <a:hlinkClick r:id="rId4"/>
              </a:rPr>
              <a:t>PolarDB AutoIndex/Redo synchronization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249424"/>
            <a:ext cx="61722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Microsoft YaHei"/>
              </a:rPr>
              <a:t>https://help.aliyun.com/en/polardb/polardb-for-mysql/user-guide/automatic-non-sense-speed-autoindex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79776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[P4]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779776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Microsoft YaHei"/>
                <a:hlinkClick r:id="rId5"/>
              </a:rPr>
              <a:t>PolarDB for AI and NL2SQL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779776"/>
            <a:ext cx="61722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Microsoft YaHei"/>
              </a:rPr>
              <a:t>https://help.aliyun.com/en/polardb/polardb-for-mysql/polardb-for-ai-nl2sql-commercialized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310128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[P5]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310128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Microsoft YaHei"/>
                <a:hlinkClick r:id="rId6"/>
              </a:rPr>
              <a:t>Enable PolarDB for AI / AI nodes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310128"/>
            <a:ext cx="61722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Microsoft YaHei"/>
              </a:rPr>
              <a:t>https://help.aliyun.com/en/polardb/polardb-for-mysql/enable-the-polardb-for-ai-feature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840480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[P6]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840480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Microsoft YaHei"/>
                <a:hlinkClick r:id="rId7"/>
              </a:rPr>
              <a:t>PolarDB Data-Agent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3840480"/>
            <a:ext cx="61722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Microsoft YaHei"/>
              </a:rPr>
              <a:t>https://help.aliyun.com/en/polardb/polardb-for-mysql/db-agent/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370832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[P7]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370832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Microsoft YaHei"/>
                <a:hlinkClick r:id="rId8"/>
              </a:rPr>
              <a:t>PolarDB IMCI RAG implementation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4370832"/>
            <a:ext cx="61722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Microsoft YaHei"/>
              </a:rPr>
              <a:t>https://help.aliyun.com/zh/polardb/polardb-for-mysql/building-a-retrieval-enhancement-rag-system-based-on-polardb-imci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901184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[P8]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901184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Microsoft YaHei"/>
                <a:hlinkClick r:id="rId9"/>
              </a:rPr>
              <a:t>PolarDB customer: Yadea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4901184"/>
            <a:ext cx="61722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Microsoft YaHei"/>
              </a:rPr>
              <a:t>https://help.aliyun.com/en/polardb/polardb-for-mysql/electric-vehicle-manufacturing-yadi-technology-group-co-ltd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9784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</a:rPr>
              <a:t>点击资料标题可打开官方页面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Microsoft YaHei"/>
              </a:rPr>
              <a:t>OceanBase 官方资料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881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</a:rPr>
              <a:t>所有 URL 均为厂商官方文档、官方产品页、官方博客或官方客户案例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74320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参考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DB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[B1]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188720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Microsoft YaHei"/>
                <a:hlinkClick r:id="rId2"/>
              </a:rPr>
              <a:t>OceanBase AI Database / Lakebase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188720"/>
            <a:ext cx="61722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Microsoft YaHei"/>
              </a:rPr>
              <a:t>https://www.oceanbase.com/solution/ai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[B2]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719072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Microsoft YaHei"/>
                <a:hlinkClick r:id="rId3"/>
              </a:rPr>
              <a:t>OceanBase AI function service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1719072"/>
            <a:ext cx="61722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Microsoft YaHei"/>
              </a:rPr>
              <a:t>https://www.oceanbase.com/docs/common-oceanbase-database-cn-1000000005682097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49424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[B3]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249424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Microsoft YaHei"/>
                <a:hlinkClick r:id="rId4"/>
              </a:rPr>
              <a:t>OceanBase AI model registration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249424"/>
            <a:ext cx="61722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Microsoft YaHei"/>
              </a:rPr>
              <a:t>https://www.oceanbase.com/docs/common-oceanbase-database-cn-1000000005682098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79776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[B4]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779776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Microsoft YaHei"/>
                <a:hlinkClick r:id="rId5"/>
              </a:rPr>
              <a:t>OceanBase Iceberg via External Catalog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779776"/>
            <a:ext cx="61722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Microsoft YaHei"/>
              </a:rPr>
              <a:t>https://www.oceanbase.com/docs/common-oceanbase-database-cn-1000000006326202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310128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[B5]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310128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Microsoft YaHei"/>
                <a:hlinkClick r:id="rId6"/>
              </a:rPr>
              <a:t>OceanBase external data access and limits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310128"/>
            <a:ext cx="61722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Microsoft YaHei"/>
              </a:rPr>
              <a:t>https://www.oceanbase.com/docs/common-oceanbase-database-cn-1000000006326199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840480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[B6]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840480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Microsoft YaHei"/>
                <a:hlinkClick r:id="rId7"/>
              </a:rPr>
              <a:t>OceanBase Spark Catalog integration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3840480"/>
            <a:ext cx="61722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Microsoft YaHei"/>
              </a:rPr>
              <a:t>https://www.oceanbase.com/docs/common-best-practices-1000000002808478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370832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[B7]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370832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Microsoft YaHei"/>
                <a:hlinkClick r:id="rId8"/>
              </a:rPr>
              <a:t>OceanBase semantic index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4370832"/>
            <a:ext cx="61722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Microsoft YaHei"/>
              </a:rPr>
              <a:t>https://www.oceanbase.com/docs/common-oceanbase-database-cn-1000000005682088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9784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</a:rPr>
              <a:t>点击资料标题可打开官方页面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114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>
                <a:solidFill>
                  <a:srgbClr val="0F172A"/>
                </a:solidFill>
                <a:latin typeface="Microsoft YaHei"/>
              </a:rPr>
              <a:t>Databricks 官方资料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13232"/>
            <a:ext cx="10881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475569"/>
                </a:solidFill>
                <a:latin typeface="Microsoft YaHei"/>
              </a:rPr>
              <a:t>所有 URL 均为厂商官方文档、官方产品页、官方博客或官方客户案例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274320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1">
                <a:solidFill>
                  <a:srgbClr val="2563EB"/>
                </a:solidFill>
                <a:latin typeface="Microsoft YaHei"/>
              </a:rPr>
              <a:t>参考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987552"/>
            <a:ext cx="11155680" cy="18288"/>
          </a:xfrm>
          <a:prstGeom prst="rect">
            <a:avLst/>
          </a:prstGeom>
          <a:solidFill>
            <a:srgbClr val="DBE4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188720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[D1]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188720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Microsoft YaHei"/>
                <a:hlinkClick r:id="rId2"/>
              </a:rPr>
              <a:t>Databricks Lakebase architecture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257800" y="1188720"/>
            <a:ext cx="61722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Microsoft YaHei"/>
              </a:rPr>
              <a:t>https://docs.databricks.com/aws/en/oltp/projects/architecture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719072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[D2]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1719072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Microsoft YaHei"/>
                <a:hlinkClick r:id="rId3"/>
              </a:rPr>
              <a:t>Databricks Lakebase storage architecture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57800" y="1719072"/>
            <a:ext cx="61722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Microsoft YaHei"/>
              </a:rPr>
              <a:t>https://docs.databricks.com/aws/en/oltp/projects/storage-architecture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249424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[D3]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2249424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Microsoft YaHei"/>
                <a:hlinkClick r:id="rId4"/>
              </a:rPr>
              <a:t>Databricks LTAP architecture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57800" y="2249424"/>
            <a:ext cx="61722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Microsoft YaHei"/>
              </a:rPr>
              <a:t>https://docs.databricks.com/aws/en/oltp/projects/ltap-overview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2779776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[D4]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25880" y="2779776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Microsoft YaHei"/>
                <a:hlinkClick r:id="rId5"/>
              </a:rPr>
              <a:t>Databricks Unity AI Gateway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2779776"/>
            <a:ext cx="61722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Microsoft YaHei"/>
              </a:rPr>
              <a:t>https://docs.databricks.com/aws/en/ai-gateway/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3310128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[D5]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5880" y="3310128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Microsoft YaHei"/>
                <a:hlinkClick r:id="rId6"/>
              </a:rPr>
              <a:t>Databricks agents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57800" y="3310128"/>
            <a:ext cx="61722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Microsoft YaHei"/>
              </a:rPr>
              <a:t>https://docs.databricks.com/aws/en/agents/custom-agents/build-agents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3840480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[D6]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3840480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Microsoft YaHei"/>
                <a:hlinkClick r:id="rId7"/>
              </a:rPr>
              <a:t>Databricks AI Search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57800" y="3840480"/>
            <a:ext cx="61722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Microsoft YaHei"/>
              </a:rPr>
              <a:t>https://docs.databricks.com/aws/en/ai-search/ai-search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4370832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[D7]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25880" y="4370832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Microsoft YaHei"/>
                <a:hlinkClick r:id="rId8"/>
              </a:rPr>
              <a:t>Databricks Supervisor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57800" y="4370832"/>
            <a:ext cx="61722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Microsoft YaHei"/>
              </a:rPr>
              <a:t>https://docs.databricks.com/aws/en/agents/agent-bricks/multi-agent-supervisor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4901184"/>
            <a:ext cx="914400" cy="256032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2563EB"/>
                </a:solidFill>
                <a:latin typeface="Microsoft YaHei"/>
              </a:rPr>
              <a:t>[D8]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25880" y="4901184"/>
            <a:ext cx="4023360" cy="27432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1">
                <a:solidFill>
                  <a:srgbClr val="0F172A"/>
                </a:solidFill>
                <a:latin typeface="Microsoft YaHei"/>
                <a:hlinkClick r:id="rId9"/>
              </a:rPr>
              <a:t>Databricks customer: FinThrive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257800" y="4901184"/>
            <a:ext cx="6172200" cy="36576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475569"/>
                </a:solidFill>
                <a:latin typeface="Microsoft YaHei"/>
              </a:rPr>
              <a:t>https://www.databricks.com/customers/finthrive/agent-bricks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9784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64748B"/>
                </a:solidFill>
                <a:latin typeface="Microsoft YaHei"/>
              </a:rPr>
              <a:t>点击资料标题可打开官方页面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72800" y="6492240"/>
            <a:ext cx="640080" cy="182880"/>
          </a:xfrm>
          <a:prstGeom prst="rect">
            <a:avLst/>
          </a:prstGeom>
          <a:noFill/>
        </p:spPr>
        <p:txBody>
          <a:bodyPr wrap="none" lIns="45720" rIns="45720" anchor="t">
            <a:spAutoFit/>
          </a:bodyPr>
          <a:lstStyle/>
          <a:p>
            <a:pPr algn="r">
              <a:spcAft>
                <a:spcPts val="0"/>
              </a:spcAft>
            </a:pPr>
            <a:r>
              <a:rPr sz="900" b="0">
                <a:solidFill>
                  <a:srgbClr val="64748B"/>
                </a:solidFill>
                <a:latin typeface="Microsoft YaHei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